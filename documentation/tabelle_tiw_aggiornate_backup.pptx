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669AC"/>
                </a:solidFill>
              </a:rPr>
              <a:t>Modulo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87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AppFornitore.init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AppFornitore.handleSubmitSku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(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makeCall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dati SKU + foto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ApiSkuController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AppFornitore.handleSubmitSemplice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(codice, nome,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ApiProdottoTreeController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AppFornitore.handleCreaComposto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(codice, nome, prezzi, figli)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ApiProdottoTreeController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Aggiungi figlio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AppFornitore.handleTreeAddChild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Aggiungi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AppFornitore.handleTreeAddSku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Scollega / Elimina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AppFornitore.handleTreeUnlink / handleTreeDelete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focusout campo editabile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AppFornitore.handleTreeInlineEdit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Salva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AppFornitore.handleSalvaTree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(azioni pendenti)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ApiSyncController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AppFornitore.handleSearch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?q=…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ApiRicercaController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Risultati → click su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AppFornitore.handleExpandSearchResult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?id=…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ApiProdottoController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SKU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AppFornitore.handleEliminaSku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DELETE ?id=…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ApiSkuController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719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window.location.href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LoginServlet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214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AppCliente.init → caricaCatalogo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HomeClienteServlet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AppCliente.apriConfigurazione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AppCliente.espandiNodo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 (nuova)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AppCliente.handleSalvaConfigurazione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(nome, codiceRadice, scelte)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 (modifica)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AppCliente.handleSalvaConfigurazione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PUT JSON (nome, scelte)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AppCliente.caricaConfigurazioni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AppCliente.apriDettaglio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Modifica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AppCliente.apriModifica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Clona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AppCliente.cloneConfigurazione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(payload clonato)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AppCliente.eliminaConfigurazione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DELETE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821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window.location.href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invio multipart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dati SKU + foto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codice univoco; upload foto; inserimento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invio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(codice, nome,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codice univoco; inserimento prodotto + associazioni 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 e vincoli prezzo; invio JSON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(codice, nome, prezzi, figli)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Verifica vincoli prezzo e profondità ≤ 3; inserimento prodotto + figli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Aggiungi figlio / 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Aggiunta nodo/SKU al DOM; accodamento 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Scollega /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dal DOM; accodamento 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inline edit focusout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Aggiornamento valore nel DOM; accodamento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Tree editor → click Salva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Invio batch azioni pendenti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(azioni pendenti)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Esecuzione transazionale delle azioni; aggiornamento DB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risultati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?q=…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full-text su SKU e prodotti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Risultati → click su item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albero / dettaglio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?id=…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albero prodotto o dati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SKU → click Elimina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dalla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DELETE ?id=…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Eliminazione fisica SKU e configurazioni associate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Cancellazione stato locale; redirect login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Invalidazione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214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catalogo prodotti (Z-A, paginato)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prodotti composti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albero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albero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figli del nodo (dati in 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 (nuova)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aggiorna view con dettaglio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(nome, codiceRadice, scelte SKU)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price snapshotting; inserimento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 (modifica)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aggiorna view con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PUT JSON (nome, scelte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dati; price snapshotting; aggiornamento configurazione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elenco 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configurazioni del cliente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dettaglio e prezzi congelati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dettaglio + prezzi congelati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Modifica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form pre-compilato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configurazione + albero + scelte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Clona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Aggiunge nuova voce all'elenco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JSON (payload clonato)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Inserimento copia configurazione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Configurazione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dalla view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DELETE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Eliminazione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821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Cancellazione stato locale;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Invalidazione sessione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669AC"/>
                </a:solidFill>
              </a:rPr>
              <a:t>Modulo SSR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action="/login"&gt;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href="/fornitore/home"&gt;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tipoForm=sku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(dati SKU + foto)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HomeFornitoreServlet.handleCreaSku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tipoForm=semplice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(codice, nome, IDs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HomeFornitoreServlet.handleCreaSemplice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HomeFornitoreServlet.handleRicalcolaComposto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tipoForm=composto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(dati composto + IDs figli)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HomeFornitoreServlet.handleCreaComposto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action="/fornitore/azione"&gt; azione=ELIMINA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(tipo, ID oggetto)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AzioneCatalogoServlet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→ click 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action="/fornitore/azione"&gt; azione=RIMUOVI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(tipo, ID oggetto, ID padre)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AzioneCatalogoServlet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action="/fornitore/cerca"&gt;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?keyword=…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CercaCatalogoServlet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ricerca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interno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96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action="/logout"&gt;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action="/login"&gt;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(catalogo)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href="/cliente/home"&gt;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HomeClienteServlet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href="/cliente/configura?codice=…"&gt;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&lt;form&gt; espandi=&lt;id&gt;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espandi=&lt;id&gt;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ConfiguraServlet.doPost → redirect 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action="/cliente/configura"&gt;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(nome, codiceRadice, sku_*)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ConfiguraServlet → SalvaConfigurazioneServlet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href="/cliente/configurazioni"&gt;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MieConfigurazioniServlet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Dettaglio configurazione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&lt;a href="/cliente/dettaglio?idConfig=…"&gt;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?idConfig=…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DettaglioConfigurazioneServlet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action="/logout"&gt;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sessione; redirect home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(dati SKU + foto)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codice univoco; upload foto; inserimento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(codice, nome, IDs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Calcolo prezzoMin/Max da SKU; inserimento prodotto + associazioni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(semplice submit)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Calcolo somma prezzoMin/Max figli; salvataggio in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(dati composto + IDs figli)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Verifica vincoli prezzo e profondità ≤ 3; inserimento transazionale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azione=ELIMINA (tipo, ID oggetto)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configurazioni clienti collegate; eliminazione fisica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Risultato → click 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azione=RIMUOVI (tipo, ID, padre)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Rimozione associazione SKU/figlio; ricalcolo prezzi padre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?keyword=…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Ricerca testuale su SKU e prodotti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Invalidazione sessione;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sessione; redirect home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(catalogo)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prodotti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prodotti composti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 (link)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albero prodotto; rendering form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Invio scelte SKU correnti come hidden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espandi=&lt;id&gt; + sku_* + aperto=*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GET con query string aggiornata (PRG stateless)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Configura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Validazione nome non vuoto; completezza scelte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(nome, codiceRadice, sku_*)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completezza; price snapshotting; inserimento/aggiornamento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elenco configurazioni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configurazioni del cliente (ordinate per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Dettaglio configurazione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Aggiorna view con dettaglio e prezzi congelati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?idConfig=…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Estrazione dettaglio configurazione + prezzi congelati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C05000"/>
                </a:solidFill>
              </a:rPr>
              <a:t>Parti comuni  Cliente &amp; Fornitore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0000"/>
                </a:solidFill>
              </a:rPr>
              <a:t>Controller / Event Handler  —  Parti </a:t>
            </a:r>
            <a:r>
              <a:rPr sz="2800" b="1" dirty="0" err="1">
                <a:solidFill>
                  <a:srgbClr val="000000"/>
                </a:solidFill>
              </a:rPr>
              <a:t>comuni</a:t>
            </a:r>
            <a:endParaRPr sz="2800" b="1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 gridSpan="2"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 (info utente + CSRF token)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AppX.init → api.getUser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ApiUserController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Sessione scaduta (401 su qualsiasi fetch)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api.fetchJson → redirect automatico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window.location.href = 'login.html'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LoginServlet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sessione; generazione CSRF token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Home page → load (info utente + CSRF token)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Visualizza nome utente in navbar; imposta CSRF token nel meta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/api/me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Lettura sessione; restituzione username, nome, cognome, ruolo, CSRF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Sessione scaduta (401 su qualsiasi chiamata)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automatico a login.html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Cancellazione stato locale; redirect a 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Invalidazione sessione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action="/login" method="POST"&gt;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Sessione assente / scaduta (qualsiasi pagina)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automatico (nessun controller client)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 (filtri di sessione nelle 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a 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&lt;form action="/logout" method="POST"&gt;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</a:rPr>
                        <a:t>Evento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Controllo credenziali; creazione sessione; CSRF token; redirect home per ruolo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Sessione assente / scaduta (qualsiasi pagina)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Redirect a 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</a:rPr>
                        <a:t> HTTP; redirect a /login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side: DAO &amp; model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180" y="1647568"/>
            <a:ext cx="50292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dirty="0"/>
              <a:t>Controllers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LoginServlet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ApiUserController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ApiSkuController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ApiProdottoTreeController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ApiSyncController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ApiConfigurazioneController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ApiRicercaController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ApiProdottoController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12" y="1647568"/>
            <a:ext cx="5486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 sz="2200"/>
            </a:pPr>
            <a:r>
              <a:rPr dirty="0"/>
              <a:t>Model objects (Beans)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Utente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SKU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Prodotto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Configurazione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§"/>
              <a:defRPr sz="2200"/>
            </a:pPr>
            <a:r>
              <a:rPr dirty="0"/>
              <a:t>Data Access Objects (Classes)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UtenteDAO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checkCredentials</a:t>
            </a:r>
            <a:r>
              <a:rPr dirty="0"/>
              <a:t>(username, </a:t>
            </a:r>
            <a:r>
              <a:rPr dirty="0" err="1"/>
              <a:t>pwd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SKUDAO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inserisciSku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getPrezzoReale</a:t>
            </a:r>
            <a:r>
              <a:rPr dirty="0"/>
              <a:t>(id)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eliminaDefinitivamente</a:t>
            </a:r>
            <a:r>
              <a:rPr dirty="0"/>
              <a:t>(...)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ProdottoDAO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inserisciProdottoComposto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getAlberoProdottoByCodice</a:t>
            </a:r>
            <a:r>
              <a:rPr dirty="0"/>
              <a:t>(...)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ConfigurazioneDAO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inserisciTestata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inserisciDettagliBatch</a:t>
            </a:r>
            <a:r>
              <a:rPr dirty="0"/>
              <a:t>(...)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063" y="274638"/>
            <a:ext cx="11154697" cy="1143000"/>
          </a:xfrm>
        </p:spPr>
        <p:txBody>
          <a:bodyPr/>
          <a:lstStyle/>
          <a:p>
            <a:r>
              <a:rPr dirty="0"/>
              <a:t>Client side: view &amp; view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7063" y="1696730"/>
            <a:ext cx="54864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A </a:t>
            </a:r>
            <a:r>
              <a:rPr dirty="0" err="1"/>
              <a:t>differenza</a:t>
            </a:r>
            <a:r>
              <a:rPr dirty="0"/>
              <a:t> della </a:t>
            </a:r>
            <a:r>
              <a:rPr dirty="0" err="1"/>
              <a:t>progettazione</a:t>
            </a:r>
            <a:r>
              <a:rPr dirty="0"/>
              <a:t> con HTML puro, le </a:t>
            </a:r>
            <a:r>
              <a:rPr dirty="0" err="1"/>
              <a:t>viste</a:t>
            </a:r>
            <a:r>
              <a:rPr dirty="0"/>
              <a:t>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calcolate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lato client</a:t>
            </a:r>
            <a:endParaRPr lang="it-IT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Un </a:t>
            </a:r>
            <a:r>
              <a:rPr dirty="0" err="1"/>
              <a:t>componente</a:t>
            </a:r>
            <a:r>
              <a:rPr dirty="0"/>
              <a:t> client-side della vista</a:t>
            </a:r>
            <a:r>
              <a:rPr lang="it-IT" dirty="0"/>
              <a:t>:</a:t>
            </a:r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eventuali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del view model</a:t>
            </a:r>
            <a:endParaRPr lang="it-IT" dirty="0"/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espone</a:t>
            </a:r>
            <a:r>
              <a:rPr dirty="0"/>
              <a:t> le </a:t>
            </a:r>
            <a:r>
              <a:rPr dirty="0" err="1"/>
              <a:t>funzioni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gestiscono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lang="it-IT" dirty="0"/>
              <a:t>			</a:t>
            </a:r>
            <a:r>
              <a:rPr dirty="0" err="1"/>
              <a:t>eventi</a:t>
            </a:r>
            <a:r>
              <a:rPr dirty="0"/>
              <a:t> </a:t>
            </a:r>
            <a:r>
              <a:rPr dirty="0" err="1"/>
              <a:t>associati</a:t>
            </a:r>
            <a:r>
              <a:rPr dirty="0"/>
              <a:t> al </a:t>
            </a:r>
            <a:r>
              <a:rPr dirty="0" err="1"/>
              <a:t>componente</a:t>
            </a:r>
            <a:r>
              <a:rPr dirty="0"/>
              <a:t> e la </a:t>
            </a:r>
            <a:r>
              <a:rPr lang="it-IT" dirty="0"/>
              <a:t>			</a:t>
            </a:r>
            <a:r>
              <a:rPr dirty="0" err="1"/>
              <a:t>funzione</a:t>
            </a:r>
            <a:r>
              <a:rPr dirty="0"/>
              <a:t> di </a:t>
            </a:r>
            <a:r>
              <a:rPr dirty="0" err="1"/>
              <a:t>utilità</a:t>
            </a:r>
            <a:r>
              <a:rPr dirty="0"/>
              <a:t> per </a:t>
            </a:r>
            <a:r>
              <a:rPr dirty="0" err="1"/>
              <a:t>associare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lang="it-IT" dirty="0"/>
              <a:t>			</a:t>
            </a:r>
            <a:r>
              <a:rPr dirty="0" err="1"/>
              <a:t>eventi</a:t>
            </a:r>
            <a:r>
              <a:rPr dirty="0"/>
              <a:t> ai </a:t>
            </a:r>
            <a:r>
              <a:rPr dirty="0" err="1"/>
              <a:t>rispettivi</a:t>
            </a:r>
            <a:r>
              <a:rPr dirty="0"/>
              <a:t> </a:t>
            </a:r>
            <a:r>
              <a:rPr dirty="0" err="1"/>
              <a:t>gestori</a:t>
            </a:r>
            <a:endParaRPr lang="it-IT" dirty="0"/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espone</a:t>
            </a:r>
            <a:r>
              <a:rPr dirty="0"/>
              <a:t> le </a:t>
            </a:r>
            <a:r>
              <a:rPr dirty="0" err="1"/>
              <a:t>funzioni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invocano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servizi</a:t>
            </a:r>
            <a:r>
              <a:rPr dirty="0"/>
              <a:t> </a:t>
            </a:r>
            <a:r>
              <a:rPr lang="it-IT" dirty="0"/>
              <a:t>		</a:t>
            </a:r>
            <a:r>
              <a:rPr dirty="0"/>
              <a:t>del server in maniera </a:t>
            </a:r>
            <a:r>
              <a:rPr dirty="0" err="1"/>
              <a:t>asincrona</a:t>
            </a:r>
            <a:r>
              <a:rPr dirty="0"/>
              <a:t> ed </a:t>
            </a:r>
            <a:r>
              <a:rPr lang="it-IT" dirty="0"/>
              <a:t>			</a:t>
            </a:r>
            <a:r>
              <a:rPr dirty="0" err="1"/>
              <a:t>eseguono</a:t>
            </a:r>
            <a:r>
              <a:rPr dirty="0"/>
              <a:t> il rendering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</a:t>
            </a:r>
            <a:r>
              <a:rPr lang="it-IT" dirty="0"/>
              <a:t>				</a:t>
            </a:r>
            <a:r>
              <a:rPr dirty="0" err="1"/>
              <a:t>provenienti</a:t>
            </a:r>
            <a:r>
              <a:rPr dirty="0"/>
              <a:t> dal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1379" y="1696730"/>
            <a:ext cx="54864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/>
              <a:t>Index</a:t>
            </a:r>
          </a:p>
          <a:p>
            <a:pPr lvl="1">
              <a:defRPr sz="1600"/>
            </a:pPr>
            <a:r>
              <a:rPr dirty="0"/>
              <a:t>Login form</a:t>
            </a:r>
          </a:p>
          <a:p>
            <a:pPr lvl="2">
              <a:defRPr sz="1400"/>
            </a:pPr>
            <a:r>
              <a:rPr sz="1600" dirty="0" err="1"/>
              <a:t>Gestione</a:t>
            </a:r>
            <a:r>
              <a:rPr sz="1600" dirty="0"/>
              <a:t> del submit e degli </a:t>
            </a:r>
            <a:r>
              <a:rPr sz="1600" dirty="0" err="1"/>
              <a:t>errori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 err="1"/>
              <a:t>AppFornitore</a:t>
            </a:r>
            <a:endParaRPr b="1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init</a:t>
            </a:r>
            <a:r>
              <a:rPr sz="1600" dirty="0"/>
              <a:t>: carica </a:t>
            </a:r>
            <a:r>
              <a:rPr sz="1600" dirty="0" err="1"/>
              <a:t>dati</a:t>
            </a:r>
            <a:r>
              <a:rPr sz="1600" dirty="0"/>
              <a:t> </a:t>
            </a:r>
            <a:r>
              <a:rPr sz="1600" dirty="0" err="1"/>
              <a:t>iniziali</a:t>
            </a:r>
            <a:r>
              <a:rPr sz="1600" dirty="0"/>
              <a:t> dal server (</a:t>
            </a:r>
            <a:r>
              <a:rPr sz="1600" dirty="0" err="1"/>
              <a:t>orfani</a:t>
            </a:r>
            <a:r>
              <a:rPr sz="1600" dirty="0"/>
              <a:t>, </a:t>
            </a:r>
            <a:r>
              <a:rPr sz="1600" dirty="0" err="1"/>
              <a:t>catalogo</a:t>
            </a:r>
            <a:r>
              <a:rPr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handleSalvaTree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le </a:t>
            </a:r>
            <a:r>
              <a:rPr sz="1600" dirty="0" err="1"/>
              <a:t>azioni</a:t>
            </a:r>
            <a:r>
              <a:rPr sz="1600" dirty="0"/>
              <a:t> </a:t>
            </a:r>
            <a:r>
              <a:rPr sz="1600" dirty="0" err="1"/>
              <a:t>dell'editor</a:t>
            </a:r>
            <a:r>
              <a:rPr sz="1600" dirty="0"/>
              <a:t> </a:t>
            </a:r>
            <a:r>
              <a:rPr sz="1600" dirty="0" err="1"/>
              <a:t>albero</a:t>
            </a:r>
            <a:r>
              <a:rPr sz="1600" dirty="0"/>
              <a:t> al server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handleSubmitSku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del nuovo </a:t>
            </a:r>
            <a:r>
              <a:rPr sz="1600" dirty="0" err="1"/>
              <a:t>componente</a:t>
            </a:r>
            <a:r>
              <a:rPr sz="1600" dirty="0"/>
              <a:t> SKU</a:t>
            </a:r>
          </a:p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 err="1"/>
              <a:t>AppCliente</a:t>
            </a:r>
            <a:endParaRPr b="1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caricaCatalogo</a:t>
            </a:r>
            <a:r>
              <a:rPr sz="1600" dirty="0"/>
              <a:t>: </a:t>
            </a:r>
            <a:r>
              <a:rPr sz="1600" dirty="0" err="1"/>
              <a:t>richiede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prodotti</a:t>
            </a:r>
            <a:r>
              <a:rPr sz="1600" dirty="0"/>
              <a:t> al server e </a:t>
            </a:r>
            <a:r>
              <a:rPr sz="1600" dirty="0" err="1"/>
              <a:t>aggiorna</a:t>
            </a:r>
            <a:r>
              <a:rPr sz="1600" dirty="0"/>
              <a:t> la vista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apriConfigurazione</a:t>
            </a:r>
            <a:r>
              <a:rPr sz="1600" dirty="0"/>
              <a:t>: </a:t>
            </a:r>
            <a:r>
              <a:rPr sz="1600" dirty="0" err="1"/>
              <a:t>renderizza</a:t>
            </a:r>
            <a:r>
              <a:rPr sz="1600" dirty="0"/>
              <a:t> </a:t>
            </a:r>
            <a:r>
              <a:rPr sz="1600" dirty="0" err="1"/>
              <a:t>l'albero</a:t>
            </a:r>
            <a:r>
              <a:rPr sz="1600" dirty="0"/>
              <a:t> per la </a:t>
            </a:r>
            <a:r>
              <a:rPr sz="1600" dirty="0" err="1"/>
              <a:t>scelta</a:t>
            </a:r>
            <a:r>
              <a:rPr sz="1600" dirty="0"/>
              <a:t> SKU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handleSalvaConfigurazione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della </a:t>
            </a:r>
            <a:r>
              <a:rPr sz="1600" dirty="0" err="1"/>
              <a:t>configurazione</a:t>
            </a:r>
            <a:r>
              <a:rPr sz="1600" dirty="0"/>
              <a:t> al server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74638"/>
            <a:ext cx="8229600" cy="1143000"/>
          </a:xfrm>
        </p:spPr>
        <p:txBody>
          <a:bodyPr/>
          <a:lstStyle/>
          <a:p>
            <a:r>
              <a:rPr dirty="0"/>
              <a:t>Server side: Controllers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892" y="1417638"/>
            <a:ext cx="5303520" cy="3193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SPA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API Controllers (SPA)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ApiConfigurazioneController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/>
              <a:t>ApiProdottoController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ApiProdottoTreeController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ApiRicercaController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ApiSkuController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ApiSyncController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ApiUserController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7237412" y="1224116"/>
            <a:ext cx="5943600" cy="504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SSR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Servlets (SSR)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AzioneCatalogoServlet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CercaCatalogoServlet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ConfiguraServlet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ConfigurazioneActionServlet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DettaglioConfigurazioneServlet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HomeClienteServlet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HomeFornitoreServlet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LoginServlet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LogoutServlet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MieConfigurazioniServlet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RisultatoFornitoreServlet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SalvaConfigurazioneServlet</a:t>
            </a:r>
            <a:endParaRPr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57432"/>
            <a:ext cx="8229600" cy="1143000"/>
          </a:xfrm>
        </p:spPr>
        <p:txBody>
          <a:bodyPr/>
          <a:lstStyle/>
          <a:p>
            <a:r>
              <a:rPr dirty="0"/>
              <a:t>Server side: DAO &amp; Model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94620"/>
            <a:ext cx="53035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Model Objects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Beans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Configurazione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ElementoCatalogo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Prodotto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ProdottoComposto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ProdottoSemplice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SKU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Utente</a:t>
            </a:r>
            <a:endParaRPr dirty="0"/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DTOs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DettaglioDTO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UtenteSessionDTO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VoceConfigurazioneDTO</a:t>
            </a:r>
            <a:endParaRPr dirty="0"/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 err="1"/>
              <a:t>UtenteDAO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checkCredentials</a:t>
            </a:r>
            <a:r>
              <a:rPr dirty="0"/>
              <a:t>(username, password)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 err="1"/>
              <a:t>ConfigurazioneDAO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inserisciTestata</a:t>
            </a:r>
            <a:r>
              <a:rPr dirty="0"/>
              <a:t>(conf)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inserisciDettagliBatch</a:t>
            </a:r>
            <a:r>
              <a:rPr dirty="0"/>
              <a:t>(id, </a:t>
            </a:r>
            <a:r>
              <a:rPr dirty="0" err="1"/>
              <a:t>dettagli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eliminaConfigurazione</a:t>
            </a:r>
            <a:r>
              <a:rPr dirty="0"/>
              <a:t>(id, user)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getConfigurazioneById</a:t>
            </a:r>
            <a:r>
              <a:rPr dirty="0"/>
              <a:t>(id, user)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getConfigurazioniByUtente</a:t>
            </a:r>
            <a:r>
              <a:rPr dirty="0"/>
              <a:t>(user)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updateTestata</a:t>
            </a:r>
            <a:r>
              <a:rPr dirty="0"/>
              <a:t>(conf)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eliminaConfigurazioniPerComponente</a:t>
            </a:r>
            <a:r>
              <a:rPr dirty="0"/>
              <a:t>(id, </a:t>
            </a:r>
            <a:r>
              <a:rPr dirty="0" err="1"/>
              <a:t>tipo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94620"/>
            <a:ext cx="59436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Data Access Objects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SKUDAO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findAll</a:t>
            </a:r>
            <a:r>
              <a:rPr dirty="0"/>
              <a:t>(), </a:t>
            </a:r>
            <a:r>
              <a:rPr dirty="0" err="1"/>
              <a:t>findById</a:t>
            </a:r>
            <a:r>
              <a:rPr dirty="0"/>
              <a:t>(id)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findByCodice</a:t>
            </a:r>
            <a:r>
              <a:rPr dirty="0"/>
              <a:t>(</a:t>
            </a:r>
            <a:r>
              <a:rPr dirty="0" err="1"/>
              <a:t>codice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insert(</a:t>
            </a:r>
            <a:r>
              <a:rPr dirty="0" err="1"/>
              <a:t>sku</a:t>
            </a:r>
            <a:r>
              <a:rPr dirty="0"/>
              <a:t>), update(</a:t>
            </a:r>
            <a:r>
              <a:rPr dirty="0" err="1"/>
              <a:t>sku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getPrezzoReale</a:t>
            </a:r>
            <a:r>
              <a:rPr dirty="0"/>
              <a:t>(id)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search(query)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eliminaDefinitivamente</a:t>
            </a:r>
            <a:r>
              <a:rPr dirty="0"/>
              <a:t>(id)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 err="1"/>
              <a:t>ProdottoDAO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getProdottiRadice</a:t>
            </a:r>
            <a:r>
              <a:rPr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findAll</a:t>
            </a:r>
            <a:r>
              <a:rPr dirty="0"/>
              <a:t>(), </a:t>
            </a:r>
            <a:r>
              <a:rPr dirty="0" err="1"/>
              <a:t>findById</a:t>
            </a:r>
            <a:r>
              <a:rPr dirty="0"/>
              <a:t>(id), </a:t>
            </a:r>
            <a:r>
              <a:rPr dirty="0" err="1"/>
              <a:t>findByCodice</a:t>
            </a:r>
            <a:r>
              <a:rPr dirty="0"/>
              <a:t>(cod)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getAlberoProdotto</a:t>
            </a:r>
            <a:r>
              <a:rPr dirty="0"/>
              <a:t>(id)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insertSemplice</a:t>
            </a:r>
            <a:r>
              <a:rPr dirty="0"/>
              <a:t>(...), </a:t>
            </a:r>
            <a:r>
              <a:rPr dirty="0" err="1"/>
              <a:t>insertComposto</a:t>
            </a:r>
            <a:r>
              <a:rPr dirty="0"/>
              <a:t>(...)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addSku</a:t>
            </a:r>
            <a:r>
              <a:rPr dirty="0"/>
              <a:t>(</a:t>
            </a:r>
            <a:r>
              <a:rPr dirty="0" err="1"/>
              <a:t>idProdotto</a:t>
            </a:r>
            <a:r>
              <a:rPr dirty="0"/>
              <a:t>, </a:t>
            </a:r>
            <a:r>
              <a:rPr dirty="0" err="1"/>
              <a:t>idSku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addFiglio</a:t>
            </a:r>
            <a:r>
              <a:rPr dirty="0"/>
              <a:t>(</a:t>
            </a:r>
            <a:r>
              <a:rPr dirty="0" err="1"/>
              <a:t>idPadre</a:t>
            </a:r>
            <a:r>
              <a:rPr dirty="0"/>
              <a:t>, </a:t>
            </a:r>
            <a:r>
              <a:rPr dirty="0" err="1"/>
              <a:t>idFiglio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search(query)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calcolaPrezziDaSku</a:t>
            </a:r>
            <a:r>
              <a:rPr dirty="0"/>
              <a:t>(id), </a:t>
            </a:r>
            <a:r>
              <a:rPr dirty="0" err="1"/>
              <a:t>ricalcolaPrezziComposto</a:t>
            </a:r>
            <a:r>
              <a:rPr dirty="0"/>
              <a:t>(id)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rimuoviAssociazioneSku</a:t>
            </a:r>
            <a:r>
              <a:rPr dirty="0"/>
              <a:t>(</a:t>
            </a:r>
            <a:r>
              <a:rPr dirty="0" err="1"/>
              <a:t>idProd</a:t>
            </a:r>
            <a:r>
              <a:rPr dirty="0"/>
              <a:t>, </a:t>
            </a:r>
            <a:r>
              <a:rPr dirty="0" err="1"/>
              <a:t>idSku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rimuoviFiglio</a:t>
            </a:r>
            <a:r>
              <a:rPr dirty="0"/>
              <a:t>(</a:t>
            </a:r>
            <a:r>
              <a:rPr dirty="0" err="1"/>
              <a:t>idFiglio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eliminaDefinitivamente</a:t>
            </a:r>
            <a:r>
              <a:rPr dirty="0"/>
              <a:t>(id)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199" y="1371600"/>
            <a:ext cx="53035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 err="1"/>
              <a:t>Introduzione</a:t>
            </a:r>
            <a:endParaRPr dirty="0"/>
          </a:p>
          <a:p>
            <a:pPr>
              <a:defRPr sz="1600"/>
            </a:pPr>
            <a:r>
              <a:rPr dirty="0"/>
              <a:t>A </a:t>
            </a:r>
            <a:r>
              <a:rPr dirty="0" err="1"/>
              <a:t>differenza</a:t>
            </a:r>
            <a:r>
              <a:rPr dirty="0"/>
              <a:t> della </a:t>
            </a:r>
            <a:r>
              <a:rPr dirty="0" err="1"/>
              <a:t>progettazione</a:t>
            </a:r>
            <a:r>
              <a:rPr dirty="0"/>
              <a:t> con HTML puro, le </a:t>
            </a:r>
            <a:r>
              <a:rPr dirty="0" err="1"/>
              <a:t>viste</a:t>
            </a:r>
            <a:r>
              <a:rPr dirty="0"/>
              <a:t>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calcolate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lato client</a:t>
            </a:r>
            <a:r>
              <a:rPr lang="it-IT" dirty="0"/>
              <a:t>.</a:t>
            </a:r>
          </a:p>
          <a:p>
            <a:pPr>
              <a:defRPr sz="1600"/>
            </a:pPr>
            <a:endParaRPr lang="it-IT" dirty="0"/>
          </a:p>
          <a:p>
            <a:pPr>
              <a:defRPr sz="1600"/>
            </a:pPr>
            <a:r>
              <a:rPr dirty="0"/>
              <a:t>Un </a:t>
            </a:r>
            <a:r>
              <a:rPr dirty="0" err="1"/>
              <a:t>componente</a:t>
            </a:r>
            <a:r>
              <a:rPr dirty="0"/>
              <a:t> client-side della vista: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sz="1600" dirty="0" err="1"/>
              <a:t>mantiene</a:t>
            </a:r>
            <a:r>
              <a:rPr sz="1600" dirty="0"/>
              <a:t> </a:t>
            </a:r>
            <a:r>
              <a:rPr sz="1600" dirty="0" err="1"/>
              <a:t>eventuali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del view model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sz="1600" dirty="0" err="1"/>
              <a:t>espone</a:t>
            </a:r>
            <a:r>
              <a:rPr sz="1600" dirty="0"/>
              <a:t> le </a:t>
            </a:r>
            <a:r>
              <a:rPr sz="1600" dirty="0" err="1"/>
              <a:t>funzioni</a:t>
            </a:r>
            <a:r>
              <a:rPr sz="1600" dirty="0"/>
              <a:t> </a:t>
            </a:r>
            <a:r>
              <a:rPr sz="1600" dirty="0" err="1"/>
              <a:t>che</a:t>
            </a:r>
            <a:r>
              <a:rPr sz="1600" dirty="0"/>
              <a:t> </a:t>
            </a:r>
            <a:r>
              <a:rPr sz="1600" dirty="0" err="1"/>
              <a:t>gestiscono</a:t>
            </a:r>
            <a:r>
              <a:rPr sz="1600" dirty="0"/>
              <a:t> </a:t>
            </a:r>
            <a:r>
              <a:rPr sz="1600" dirty="0" err="1"/>
              <a:t>gli</a:t>
            </a:r>
            <a:r>
              <a:rPr sz="1600" dirty="0"/>
              <a:t> </a:t>
            </a:r>
            <a:r>
              <a:rPr sz="1600" dirty="0" err="1"/>
              <a:t>eventi</a:t>
            </a:r>
            <a:r>
              <a:rPr sz="1600" dirty="0"/>
              <a:t> </a:t>
            </a:r>
            <a:r>
              <a:rPr sz="1600" dirty="0" err="1"/>
              <a:t>associati</a:t>
            </a:r>
            <a:r>
              <a:rPr sz="1600" dirty="0"/>
              <a:t> al </a:t>
            </a:r>
            <a:r>
              <a:rPr sz="1600" dirty="0" err="1"/>
              <a:t>componente</a:t>
            </a:r>
            <a:endParaRPr sz="1600" dirty="0"/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sz="1600" dirty="0" err="1"/>
              <a:t>espone</a:t>
            </a:r>
            <a:r>
              <a:rPr sz="1600" dirty="0"/>
              <a:t> le </a:t>
            </a:r>
            <a:r>
              <a:rPr sz="1600" dirty="0" err="1"/>
              <a:t>funzioni</a:t>
            </a:r>
            <a:r>
              <a:rPr sz="1600" dirty="0"/>
              <a:t> </a:t>
            </a:r>
            <a:r>
              <a:rPr sz="1600" dirty="0" err="1"/>
              <a:t>che</a:t>
            </a:r>
            <a:r>
              <a:rPr sz="1600" dirty="0"/>
              <a:t> </a:t>
            </a:r>
            <a:r>
              <a:rPr sz="1600" dirty="0" err="1"/>
              <a:t>invocano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servizi</a:t>
            </a:r>
            <a:r>
              <a:rPr sz="1600" dirty="0"/>
              <a:t> del server in maniera </a:t>
            </a:r>
            <a:r>
              <a:rPr sz="1600" dirty="0" err="1"/>
              <a:t>asincrona</a:t>
            </a:r>
            <a:endParaRPr sz="1600" dirty="0"/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sz="1600" dirty="0" err="1"/>
              <a:t>esegue</a:t>
            </a:r>
            <a:r>
              <a:rPr sz="1600" dirty="0"/>
              <a:t> il rendering </a:t>
            </a:r>
            <a:r>
              <a:rPr sz="1600" dirty="0" err="1"/>
              <a:t>dei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</a:t>
            </a:r>
            <a:r>
              <a:rPr sz="1600" dirty="0" err="1"/>
              <a:t>provenienti</a:t>
            </a:r>
            <a:r>
              <a:rPr sz="1600" dirty="0"/>
              <a:t> dal server</a:t>
            </a:r>
          </a:p>
          <a:p>
            <a:pPr>
              <a:defRPr sz="1600"/>
            </a:pPr>
            <a:r>
              <a:rPr dirty="0"/>
              <a:t>Index / Login form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dirty="0"/>
              <a:t>Submit form (login.js) con fetch e redirect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11" y="1371600"/>
            <a:ext cx="59436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Cliente</a:t>
            </a:r>
            <a:endParaRPr dirty="0"/>
          </a:p>
          <a:p>
            <a:pPr>
              <a:defRPr sz="1600"/>
            </a:pPr>
            <a:r>
              <a:rPr dirty="0" err="1"/>
              <a:t>AppCliente</a:t>
            </a:r>
            <a:endParaRPr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Inizializzazione</a:t>
            </a:r>
            <a:r>
              <a:rPr sz="1600" dirty="0"/>
              <a:t> &amp; </a:t>
            </a:r>
            <a:r>
              <a:rPr sz="1600" dirty="0" err="1"/>
              <a:t>Navigazione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init</a:t>
            </a:r>
            <a:r>
              <a:rPr sz="1600" dirty="0"/>
              <a:t>, </a:t>
            </a:r>
            <a:r>
              <a:rPr sz="1600" dirty="0" err="1"/>
              <a:t>bindGlobalEvents</a:t>
            </a:r>
            <a:r>
              <a:rPr sz="1600" dirty="0"/>
              <a:t>, </a:t>
            </a:r>
            <a:r>
              <a:rPr sz="1600" dirty="0" err="1"/>
              <a:t>switchSection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/>
              <a:t>Caricamento &amp; Rendering </a:t>
            </a:r>
            <a:r>
              <a:rPr sz="1600" dirty="0" err="1"/>
              <a:t>Liste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caricaCatalogo</a:t>
            </a:r>
            <a:r>
              <a:rPr sz="1600" dirty="0"/>
              <a:t>, </a:t>
            </a:r>
            <a:r>
              <a:rPr sz="1600" dirty="0" err="1"/>
              <a:t>renderPaginaCatalogo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caricaConfigurazioni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Gestione</a:t>
            </a:r>
            <a:r>
              <a:rPr sz="1600" dirty="0"/>
              <a:t> </a:t>
            </a:r>
            <a:r>
              <a:rPr sz="1600" dirty="0" err="1"/>
              <a:t>Configurazione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apriConfigurazione</a:t>
            </a:r>
            <a:r>
              <a:rPr sz="1600" dirty="0"/>
              <a:t>, </a:t>
            </a:r>
            <a:r>
              <a:rPr sz="1600" dirty="0" err="1"/>
              <a:t>apriModifica</a:t>
            </a:r>
            <a:r>
              <a:rPr sz="1600" dirty="0"/>
              <a:t>, </a:t>
            </a:r>
            <a:r>
              <a:rPr sz="1600" dirty="0" err="1"/>
              <a:t>apriDettaglio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buildNodoConfigura</a:t>
            </a:r>
            <a:r>
              <a:rPr sz="1600" dirty="0"/>
              <a:t>, </a:t>
            </a:r>
            <a:r>
              <a:rPr sz="1600" dirty="0" err="1"/>
              <a:t>buildNodoModifica</a:t>
            </a:r>
            <a:r>
              <a:rPr sz="1600" dirty="0"/>
              <a:t>, </a:t>
            </a:r>
            <a:r>
              <a:rPr sz="1600" dirty="0" err="1"/>
              <a:t>buildNodoDettaglio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espandiNodo</a:t>
            </a:r>
            <a:r>
              <a:rPr sz="1600" dirty="0"/>
              <a:t>, </a:t>
            </a:r>
            <a:r>
              <a:rPr sz="1600" dirty="0" err="1"/>
              <a:t>raccogliScelte</a:t>
            </a:r>
            <a:endParaRPr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/>
              <a:t>Azioni Server (Async)</a:t>
            </a:r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handleSalvaConfigurazione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cloneConfigurazione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eliminaConfigurazione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Utilità</a:t>
            </a:r>
            <a:endParaRPr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mostraMessaggio</a:t>
            </a:r>
            <a:r>
              <a:rPr sz="1600" dirty="0"/>
              <a:t>, </a:t>
            </a:r>
            <a:r>
              <a:rPr sz="1600" dirty="0" err="1"/>
              <a:t>confermaAzione</a:t>
            </a:r>
            <a:endParaRPr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4A5876-C132-1930-B28C-5FDEDF66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0"/>
            <a:ext cx="11274425" cy="1143000"/>
          </a:xfrm>
        </p:spPr>
        <p:txBody>
          <a:bodyPr/>
          <a:lstStyle/>
          <a:p>
            <a:r>
              <a:rPr dirty="0"/>
              <a:t>Client side: view &amp; view component (1/2)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71600"/>
            <a:ext cx="53035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sz="2400" dirty="0" err="1"/>
              <a:t>AppFornitore</a:t>
            </a:r>
            <a:endParaRPr sz="24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Inizializzazione</a:t>
            </a:r>
            <a:r>
              <a:rPr sz="1600" dirty="0"/>
              <a:t> &amp; </a:t>
            </a:r>
            <a:r>
              <a:rPr sz="1600" dirty="0" err="1"/>
              <a:t>Navigazione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init</a:t>
            </a:r>
            <a:r>
              <a:rPr sz="1600" dirty="0"/>
              <a:t>, </a:t>
            </a:r>
            <a:r>
              <a:rPr sz="1600" dirty="0" err="1"/>
              <a:t>bindGlobalEvents</a:t>
            </a:r>
            <a:r>
              <a:rPr sz="1600" dirty="0"/>
              <a:t>, </a:t>
            </a:r>
            <a:r>
              <a:rPr sz="1600" dirty="0" err="1"/>
              <a:t>switchSection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Creazione</a:t>
            </a:r>
            <a:r>
              <a:rPr sz="1600" dirty="0"/>
              <a:t> </a:t>
            </a:r>
            <a:r>
              <a:rPr sz="1600" dirty="0" err="1"/>
              <a:t>Componenti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handleSubmitSemplice</a:t>
            </a:r>
            <a:r>
              <a:rPr sz="1600" dirty="0"/>
              <a:t>, </a:t>
            </a:r>
            <a:r>
              <a:rPr sz="1600" dirty="0" err="1"/>
              <a:t>handleCreaComposto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handleSubmitSku</a:t>
            </a:r>
            <a:r>
              <a:rPr sz="1600" dirty="0"/>
              <a:t>, </a:t>
            </a:r>
            <a:r>
              <a:rPr sz="1600" dirty="0" err="1"/>
              <a:t>renderSkuCreata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Ricerca</a:t>
            </a:r>
            <a:r>
              <a:rPr sz="1600" dirty="0"/>
              <a:t> &amp; </a:t>
            </a:r>
            <a:r>
              <a:rPr sz="1600" dirty="0" err="1"/>
              <a:t>Liste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handleSearch</a:t>
            </a:r>
            <a:r>
              <a:rPr sz="1600" dirty="0"/>
              <a:t>, </a:t>
            </a:r>
            <a:r>
              <a:rPr sz="1600" dirty="0" err="1"/>
              <a:t>handleExpandSearchResult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renderSkuCheckboxList</a:t>
            </a:r>
            <a:r>
              <a:rPr sz="1600" dirty="0"/>
              <a:t>, </a:t>
            </a:r>
            <a:r>
              <a:rPr sz="1600" dirty="0" err="1"/>
              <a:t>renderOrfaniCheckboxList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Gestione</a:t>
            </a:r>
            <a:r>
              <a:rPr sz="1600" dirty="0"/>
              <a:t> </a:t>
            </a:r>
            <a:r>
              <a:rPr sz="1600" dirty="0" err="1"/>
              <a:t>Prezzi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ricalcolaRiepilogoPrezzi</a:t>
            </a:r>
            <a:r>
              <a:rPr sz="1600" dirty="0"/>
              <a:t>, </a:t>
            </a:r>
            <a:r>
              <a:rPr sz="1600" dirty="0" err="1"/>
              <a:t>handleRicalcolaPrezzo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9436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 err="1"/>
              <a:t>AppFornitore</a:t>
            </a:r>
            <a:r>
              <a:rPr dirty="0"/>
              <a:t> (Cont.)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/>
              <a:t>Tree Editor: Rendering &amp; </a:t>
            </a:r>
            <a:r>
              <a:rPr sz="1600" dirty="0" err="1"/>
              <a:t>Costruzione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renderTreeView</a:t>
            </a:r>
            <a:r>
              <a:rPr sz="1600" dirty="0"/>
              <a:t>, </a:t>
            </a:r>
            <a:r>
              <a:rPr sz="1600" dirty="0" err="1"/>
              <a:t>buildNodeUI</a:t>
            </a:r>
            <a:r>
              <a:rPr sz="1600" dirty="0"/>
              <a:t>, </a:t>
            </a:r>
            <a:r>
              <a:rPr sz="1600" dirty="0" err="1"/>
              <a:t>buildSkuUI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raccogliSkuDaAlbero</a:t>
            </a:r>
            <a:r>
              <a:rPr sz="1600" dirty="0"/>
              <a:t>, </a:t>
            </a:r>
            <a:r>
              <a:rPr sz="1600" dirty="0" err="1"/>
              <a:t>getNodeLevel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/>
              <a:t>Tree Editor: Code di Azioni </a:t>
            </a:r>
            <a:r>
              <a:rPr sz="1600" dirty="0" err="1"/>
              <a:t>Locali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enqueueAction</a:t>
            </a:r>
            <a:r>
              <a:rPr sz="1600" dirty="0"/>
              <a:t> (</a:t>
            </a:r>
            <a:r>
              <a:rPr sz="1600" dirty="0" err="1"/>
              <a:t>aggiunge</a:t>
            </a:r>
            <a:r>
              <a:rPr sz="1600" dirty="0"/>
              <a:t> </a:t>
            </a:r>
            <a:r>
              <a:rPr sz="1600" dirty="0" err="1"/>
              <a:t>l'azione</a:t>
            </a:r>
            <a:r>
              <a:rPr sz="1600" dirty="0"/>
              <a:t> in RAM)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handleTreeAddChild</a:t>
            </a:r>
            <a:r>
              <a:rPr sz="1600" dirty="0"/>
              <a:t>, </a:t>
            </a:r>
            <a:r>
              <a:rPr sz="1600" dirty="0" err="1"/>
              <a:t>submitTreeAddChild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handleTreeAddSku</a:t>
            </a:r>
            <a:r>
              <a:rPr sz="1600" dirty="0"/>
              <a:t>, </a:t>
            </a:r>
            <a:r>
              <a:rPr sz="1600" dirty="0" err="1"/>
              <a:t>submitTreeAddSku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handleTreeUnlink</a:t>
            </a:r>
            <a:r>
              <a:rPr sz="1600" dirty="0"/>
              <a:t>, </a:t>
            </a:r>
            <a:r>
              <a:rPr sz="1600" dirty="0" err="1"/>
              <a:t>handleTreeUnlinkSku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handleTreeDelete</a:t>
            </a:r>
            <a:r>
              <a:rPr sz="1600" dirty="0"/>
              <a:t>, </a:t>
            </a:r>
            <a:r>
              <a:rPr sz="1600" dirty="0" err="1"/>
              <a:t>handleTreeDeleteSku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handleTreeInlineEdit</a:t>
            </a:r>
            <a:r>
              <a:rPr sz="1600" dirty="0"/>
              <a:t>, </a:t>
            </a:r>
            <a:r>
              <a:rPr sz="1600" dirty="0" err="1"/>
              <a:t>handleSkuInlineEdit</a:t>
            </a:r>
            <a:endParaRPr sz="1600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/>
              <a:t>Azioni Server (Async)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handleSalvaTree</a:t>
            </a:r>
            <a:r>
              <a:rPr sz="1600" dirty="0"/>
              <a:t> (</a:t>
            </a:r>
            <a:r>
              <a:rPr sz="1600" dirty="0" err="1"/>
              <a:t>invia</a:t>
            </a:r>
            <a:r>
              <a:rPr sz="1600" dirty="0"/>
              <a:t> il batch di </a:t>
            </a:r>
            <a:r>
              <a:rPr sz="1600" dirty="0" err="1"/>
              <a:t>azioni</a:t>
            </a:r>
            <a:r>
              <a:rPr sz="1600" dirty="0"/>
              <a:t> </a:t>
            </a:r>
            <a:r>
              <a:rPr sz="1600" dirty="0" err="1"/>
              <a:t>pendenti</a:t>
            </a:r>
            <a:r>
              <a:rPr sz="16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handleEliminaSku</a:t>
            </a:r>
            <a:r>
              <a:rPr sz="1600" dirty="0"/>
              <a:t>, </a:t>
            </a:r>
            <a:r>
              <a:rPr sz="1600" dirty="0" err="1"/>
              <a:t>deleteProdottoFromDB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Utilità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mostraMessaggio</a:t>
            </a:r>
            <a:r>
              <a:rPr sz="1600" dirty="0"/>
              <a:t>, </a:t>
            </a:r>
            <a:r>
              <a:rPr sz="1600" dirty="0" err="1"/>
              <a:t>confermaAzione</a:t>
            </a:r>
            <a:endParaRPr sz="1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7F24C7-E76C-B345-F4A6-5C0B5C9BE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0"/>
            <a:ext cx="11274425" cy="1143000"/>
          </a:xfrm>
        </p:spPr>
        <p:txBody>
          <a:bodyPr/>
          <a:lstStyle/>
          <a:p>
            <a:r>
              <a:rPr dirty="0"/>
              <a:t>Client side: view &amp; view component (</a:t>
            </a:r>
            <a:r>
              <a:rPr lang="it-IT" dirty="0"/>
              <a:t>2</a:t>
            </a:r>
            <a:r>
              <a:rPr dirty="0"/>
              <a:t>/2)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3242</Words>
  <Application>Microsoft Office PowerPoint</Application>
  <PresentationFormat>Personalizzato</PresentationFormat>
  <Paragraphs>689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Server side: DAO &amp; model objects</vt:lpstr>
      <vt:lpstr>Client side: view &amp; view component</vt:lpstr>
      <vt:lpstr>Server side: Controllers</vt:lpstr>
      <vt:lpstr>Server side: DAO &amp; Model objects</vt:lpstr>
      <vt:lpstr>Client side: view &amp; view component (1/2)</vt:lpstr>
      <vt:lpstr>Client side: view &amp; view component (2/2)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Falco</cp:lastModifiedBy>
  <cp:revision>6</cp:revision>
  <dcterms:created xsi:type="dcterms:W3CDTF">2013-01-27T09:14:16Z</dcterms:created>
  <dcterms:modified xsi:type="dcterms:W3CDTF">2026-06-09T11:01:22Z</dcterms:modified>
  <cp:category/>
</cp:coreProperties>
</file>