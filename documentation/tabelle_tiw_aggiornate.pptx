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99" autoAdjust="0"/>
    <p:restoredTop sz="91242" autoAdjust="0"/>
  </p:normalViewPr>
  <p:slideViewPr>
    <p:cSldViewPr snapToGrid="0" snapToObjects="1">
      <p:cViewPr varScale="1">
        <p:scale>
          <a:sx n="50" d="100"/>
          <a:sy n="50" d="100"/>
        </p:scale>
        <p:origin x="48" y="5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47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2669AC"/>
                </a:solidFill>
              </a:rPr>
              <a:t>Modulo SPA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Controller / Event Handler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08967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669AC"/>
                </a:solidFill>
              </a:rPr>
              <a:t>SPA  ·  </a:t>
            </a:r>
            <a:r>
              <a:rPr sz="1300" b="1" dirty="0" err="1">
                <a:solidFill>
                  <a:srgbClr val="2669AC"/>
                </a:solidFill>
              </a:rPr>
              <a:t>Fornitore</a:t>
            </a:r>
            <a:endParaRPr sz="1300" b="1" dirty="0">
              <a:solidFill>
                <a:srgbClr val="2669AC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454258"/>
              </p:ext>
            </p:extLst>
          </p:nvPr>
        </p:nvGraphicFramePr>
        <p:xfrm>
          <a:off x="214884" y="801575"/>
          <a:ext cx="11834876" cy="5928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6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73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23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8338">
                <a:tc gridSpan="2"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3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33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api.fetchJson (POST)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LoginServlet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33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AppFornitore.init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HomeFornitoreServlet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09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Form SKU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AppFornitore.handleSubmitSku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(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makeCall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dati SKU + foto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ApiSkuController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09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Form prodotto semplice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AppFornitore.handleSubmitSemplice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JSON (codice, nome, SKU)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ApiProdottoTreeController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509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Form prodotto composto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AppFornitore.handleCreaComposto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JSON (codice, nome, prezzi, figli)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ApiProdottoTreeController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8338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Tree editor → click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Aggiungi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AppFornitore.handleTreeAddSku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509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Tree editor → click Scollega / Elimina nodo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AppFornitore.handleTreeUnlink / handleTreeDelete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833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Tree editor → focusout campo editabile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AppFornitore.handleTreeInlineEdit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509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Tree editor → click Salva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AppFornitore.handleSalvaTree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JSON (azioni pendenti)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ApiSyncController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509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Ricerca → form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AppFornitore.handleSearch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?q=…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ApiRicercaController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3509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Risultati → click su item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AppFornitore.handleExpandSearchResult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?id=…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ApiProdottoController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3509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SKU → click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AppFornitore.handleEliminaSku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DELETE ?id=…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ApiSkuController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8338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redirect window.location.href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LoginServlet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Controller / Event Handler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4924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669AC"/>
                </a:solidFill>
              </a:rPr>
              <a:t>SPA  ·  </a:t>
            </a:r>
            <a:r>
              <a:rPr sz="1300" b="1" dirty="0" err="1">
                <a:solidFill>
                  <a:srgbClr val="2669AC"/>
                </a:solidFill>
              </a:rPr>
              <a:t>Cliente</a:t>
            </a:r>
            <a:endParaRPr sz="1300" b="1" dirty="0">
              <a:solidFill>
                <a:srgbClr val="2669AC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0332058"/>
              </p:ext>
            </p:extLst>
          </p:nvPr>
        </p:nvGraphicFramePr>
        <p:xfrm>
          <a:off x="228600" y="849884"/>
          <a:ext cx="11731752" cy="5863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8214"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Controllore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api.fetchJson (POST)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AppCliente.init → caricaCatalogo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HomeClienteServlet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Catalogo → click prodotto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AppCliente.apriConfigurazione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?codice=…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 → form submit (nuova)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AppCliente.handleSalvaConfigurazione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(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makeCall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JSON (nome, codiceRadice, scelte)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ApiConfigurazioneController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 → form submit (modifica)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AppCliente.handleSalvaConfigurazione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PUT JSON (nome, scelte)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Le mie configurazioni → load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AppCliente.caricaConfigurazioni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/api/cliente/configurazioni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Configurazione → click Dettaglio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AppCliente.apriDettaglio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/api/cliente/configurazioni/{id}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Configurazione → click Modifica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AppCliente.apriModifica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/api/cliente/configurazioni/{id}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Configurazione → click Clona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AppCliente.cloneConfigurazione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JSON (payload clonato)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Configurazione → click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AppCliente.eliminaConfigurazione (makeCall)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DELETE /api/cliente/configurazioni/{id}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ApiConfigurazioneController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08218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redirect window.location.href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LoginServlet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4924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669AC"/>
                </a:solidFill>
              </a:rPr>
              <a:t>SPA  ·  </a:t>
            </a:r>
            <a:r>
              <a:rPr sz="1300" b="1" dirty="0" err="1">
                <a:solidFill>
                  <a:srgbClr val="2669AC"/>
                </a:solidFill>
              </a:rPr>
              <a:t>Fornitore</a:t>
            </a:r>
            <a:endParaRPr sz="1300" b="1" dirty="0">
              <a:solidFill>
                <a:srgbClr val="2669AC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3500247"/>
              </p:ext>
            </p:extLst>
          </p:nvPr>
        </p:nvGraphicFramePr>
        <p:xfrm>
          <a:off x="228600" y="827532"/>
          <a:ext cx="11731752" cy="591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2"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credenziali; creazione sessione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Aggiorna view con SKU e prodotti orfani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Estrazione SKU e prodotti orfani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Form SKU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dati; invio multipart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dati SKU + foto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codice univoco; upload foto; inserimento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Form prodotto semplice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dati; invio 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POST JSON (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codice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nome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, SKU)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codice univoco; inserimento prodotto + associazioni SKU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Form prodotto composto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dati e vincoli prezzo; invio JSON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JSON (codice, nome, prezzi, figli)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Verifica vincoli prezzo e profondità ≤ 3; inserimento prodotto + figli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Tree editor → Aggiungi figlio / SKU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Aggiunta nodo/SKU al DOM; accodamento azione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Tree editor → click Salva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Invio batch azioni pendenti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JSON (azioni pendenti)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Esecuzione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transazionale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delle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azioni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; aggiornamento DB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Ricerca → form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Aggiorna view con risultati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?q=…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Ricerca full-text su SKU e prodotti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Risultati → click su item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Aggiorna view con albero / dettaglio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?id=…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Estrazione albero prodotto o dati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SKU → click Elimina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Rimozione dalla 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DELETE ?id=…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Eliminazione fisica SKU e configurazioni associate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Cancellazione stato locale; redirect login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Invalidazione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sessione</a:t>
                      </a: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34924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2669AC"/>
                </a:solidFill>
              </a:rPr>
              <a:t>SPA  ·  </a:t>
            </a:r>
            <a:r>
              <a:rPr sz="1300" b="1" dirty="0" err="1">
                <a:solidFill>
                  <a:srgbClr val="2669AC"/>
                </a:solidFill>
              </a:rPr>
              <a:t>Cliente</a:t>
            </a:r>
            <a:endParaRPr sz="1300" b="1" dirty="0">
              <a:solidFill>
                <a:srgbClr val="2669AC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3421596"/>
              </p:ext>
            </p:extLst>
          </p:nvPr>
        </p:nvGraphicFramePr>
        <p:xfrm>
          <a:off x="228600" y="827532"/>
          <a:ext cx="11731752" cy="5963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638"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63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63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credenziali; creazione sessione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Aggiorna view con catalogo prodotti (Z-A, paginato)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Estrazione prodotti composti radice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Catalogo → click prodotto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Aggiorna view con albero configurazione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?codice=…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Estrazione albero prodotto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6"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Configura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→ form submit (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nuova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dati; aggiorna view con dettaglio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JSON (nome, codiceRadice, scelte SKU)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Controllo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dati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; price snapshotting;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inserimento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configurazione</a:t>
                      </a: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026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 → form submit (modifica)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dati; aggiorna view con dettaglio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PUT JSON (nome, scelte SKU)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dati; price snapshotting; aggiornamento configurazione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026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Le mie configurazioni → load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Aggiorna view con elenco configurazioni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/api/cliente/configurazioni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Estrazione configurazioni del cliente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026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Configurazione → click Dettaglio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Aggiorna view con dettaglio e prezzi congelati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/api/cliente/configurazioni/{id}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Estrazione dettaglio + prezzi congelati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026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Configurazione → click Modifica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Aggiorna view con form pre-compilato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/api/cliente/configurazioni/{id}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Estrazione configurazione + albero + scelte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363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Configurazione → click Clona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Aggiunge nuova voce all'elenco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JSON (payload clonato)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Inserimento copia configurazione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7026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Configurazione → click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Rimozione dalla view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DELETE /api/cliente/configurazioni/{id}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Eliminazione configurazione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7026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Cancellazione stato locale; redirect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Invalidazione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sessione</a:t>
                      </a:r>
                      <a:endParaRPr sz="13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47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2669AC"/>
                </a:solidFill>
              </a:rPr>
              <a:t>Modulo SSR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Controller / Event Handler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Fornitore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115906"/>
              </p:ext>
            </p:extLst>
          </p:nvPr>
        </p:nvGraphicFramePr>
        <p:xfrm>
          <a:off x="228600" y="987552"/>
          <a:ext cx="11731752" cy="5859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9615"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&lt;form action="/login"&gt;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&lt;a href="/fornitore/home"&gt;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HomeFornitoreServlet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Form SKU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&lt;form&gt; tipoForm=sku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(dati SKU + foto)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HomeFornitoreServlet.handleCreaSku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Form prodotto semplice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&lt;form&gt; tipoForm=semplice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(codice, nome, IDs SKU)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HomeFornitoreServlet.handleCreaSemplice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Form prodotto composto → Ricalcola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&lt;form&gt; azione=ricalcola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azione=ricalcola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HomeFornitoreServlet.handleRicalcolaComposto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Form prodotto composto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&lt;form&gt; tipoForm=composto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(dati composto + IDs figli)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HomeFornitoreServlet.handleCreaComposto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Risultato → click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&lt;form action="/fornitore/azione"&gt; azione=ELIMINA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(tipo, ID oggetto)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AzioneCatalogoServlet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Risultato → click Rimuovi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&lt;form action="/fornitore/azione"&gt; azione=RIMUOVI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(tipo, ID oggetto, ID padre)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AzioneCatalogoServlet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Ricerca → form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&lt;form action="/fornitore/cerca"&gt;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?keyword=…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CercaCatalogoServlet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39615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Risultato ricerca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redirect interno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RisultatoFornitoreServlet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962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&lt;form action="/logout"&gt;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LogoutServlet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Controller / Event Handler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0332745"/>
              </p:ext>
            </p:extLst>
          </p:nvPr>
        </p:nvGraphicFramePr>
        <p:xfrm>
          <a:off x="228600" y="987552"/>
          <a:ext cx="11731752" cy="5645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4182"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182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18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&lt;form action="/login"&gt;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18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 page (catalogo)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&lt;a href="/cliente/home"&gt;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HomeClienteServlet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01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Catalogo → click prodotto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&lt;a href="/cliente/configura?codice=…"&gt;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?codice=…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18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 → click Espandi nodo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&lt;form&gt; espandi=&lt;id&gt;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espandi=&lt;id&gt;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ConfiguraServlet.doPost → redirect 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18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 → form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&lt;form action="/cliente/configura"&gt;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(nome, codiceRadice, sku_*)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ConfiguraServlet → SalvaConfigurazioneServlet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18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Le mie configurazioni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&lt;a href="/cliente/configurazioni"&gt;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MieConfigurazioniServlet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101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Dettaglio configurazione → load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&lt;a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href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="/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cliente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/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dettaglio?idConfig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=…"&gt;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?idConfig=…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DettaglioConfigurazioneServlet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4182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&lt;form action="/logout"&gt;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LogoutServlet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Fornitore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835181"/>
              </p:ext>
            </p:extLst>
          </p:nvPr>
        </p:nvGraphicFramePr>
        <p:xfrm>
          <a:off x="228600" y="987552"/>
          <a:ext cx="11731752" cy="5806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250"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credenziali; creazione sessione; redirect home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 page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Aggiorna view con SKU e prodotti orfani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Estrazione SKU e prodotti orfani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Form SKU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Validazione dati form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(dati SKU + foto)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codice univoco; upload foto; inserimento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Form prodotto semplice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Validazione dati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POST (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codice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,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nome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, IDs SKU)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Calcolo prezzoMin/Max da SKU; inserimento prodotto + associazioni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Form prodotto composto → Ricalcola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Nessuna azione (semplice submit)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azione=ricalcola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Calcolo somma prezzoMin/Max figli; salvataggio in sessione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Form prodotto composto → submit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Validazione dati 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(dati composto + IDs figli)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Verifica vincoli prezzo e profondità ≤ 3; inserimento transazionale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Risultato → click Elimina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azione=ELIMINA (tipo, ID oggetto)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Rimozione configurazioni clienti collegate; eliminazione fisica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Risultato → click Rimuovi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azione=RIMUOVI (tipo, ID, padre)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Rimozione associazione SKU/figlio; ricalcolo prezzi padre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Ricerca → form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?keyword=…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Ricerca testuale su SKU e prodotti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Invalidazione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sessione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; redirect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671160"/>
              </p:ext>
            </p:extLst>
          </p:nvPr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credenziali; creazione sessione; redirect home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 page (catalogo)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Aggiorna view con prodotti radice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Estrazione prodotti composti radice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Catalogo → click prodotto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Nessuna azione client (link)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?codice=…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Estrazione albero prodotto; rendering form configurazione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 → click Espandi nodo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Invio scelte SKU correnti come hidden field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espandi=&lt;id&gt; + sku_* + aperto=*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Redirect GET con query string aggiornata (PRG stateless)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Configura → form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Validazione nome non vuoto; completezza scelte SKU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(nome, codiceRadice, sku_*)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completezza; price snapshotting; inserimento/aggiornamento configurazione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Le mie configurazioni → 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Aggiorna view con elenco configurazioni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(nessun parametro)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Estrazione configurazioni del cliente (ordinate per data)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Dettaglio configurazione → load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Aggiorna view con dettaglio e prezzi congelati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?idConfig=…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Estrazione dettaglio configurazione + prezzi congelati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Invalidazione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sessione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; redirect 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471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C05000"/>
                </a:solidFill>
              </a:rPr>
              <a:t>Parti comuni  Cliente &amp; Fornitore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000000"/>
                </a:solidFill>
              </a:rPr>
              <a:t>Controller / Event Handler  —  Parti </a:t>
            </a:r>
            <a:r>
              <a:rPr sz="2800" b="1" dirty="0" err="1">
                <a:solidFill>
                  <a:srgbClr val="000000"/>
                </a:solidFill>
              </a:rPr>
              <a:t>comuni</a:t>
            </a:r>
            <a:endParaRPr sz="2800" b="1" dirty="0">
              <a:solidFill>
                <a:srgbClr val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SPA  ·  Comune a Fornitore e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394114"/>
              </p:ext>
            </p:extLst>
          </p:nvPr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500">
                <a:tc gridSpan="2">
                  <a:txBody>
                    <a:bodyPr/>
                    <a:lstStyle/>
                    <a:p>
                      <a:pPr algn="ctr"/>
                      <a:r>
                        <a:rPr sz="1300" b="1" dirty="0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api.fetchJson (POST)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 page → load (info utente + CSRF token)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AppX.init → api.getUser (makeCall)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/api/me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ApiUserController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Sessione scaduta (401 su qualsiasi fetch)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api.fetchJson → redirect automatico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redirect window.location.href = 'login.html'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LoginServlet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(servlet)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  —  Parti comuni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SPA  ·  Comune a Fornitore e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636570"/>
              </p:ext>
            </p:extLst>
          </p:nvPr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52500"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credenziali; creazione sessione; generazione CSRF token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Home page → load (info utente + CSRF token)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Visualizza nome utente in navbar; imposta CSRF token nel meta tag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/api/me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Lettura sessione; restituzione username, nome, cognome, ruolo, CSRF token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Sessione scaduta (401 su qualsiasi chiamata)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Redirect automatico a login.html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25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Cancellazione stato locale; redirect a login.html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GET /logout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Invalidazione sessione HTTP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Controller / Event Handler  —  Parti comuni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makeCall indica una funzione che fa una chiamata asincrona al 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Comune a Fornitore e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6689371"/>
              </p:ext>
            </p:extLst>
          </p:nvPr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0"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Controllore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&lt;form action="/login" method="POST"&gt;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LoginServlet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Sessione assente / scaduta (qualsiasi pagina)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redirect automatico (nessun controller client)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— (filtri di sessione nelle servlet)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redirect a 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&lt;form action="/logout" method="POST"&gt;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LogoutServlet (servlet)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73152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0000"/>
                </a:solidFill>
              </a:rPr>
              <a:t>Eventi &amp; Azioni  —  Parti comuni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73152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05000"/>
                </a:solidFill>
              </a:rPr>
              <a:t>I controlli di validità (client e server side) e di autorizzazione (server side) all'accesso sono previsti per tutti gli eventi che li richiedono e non sono riportati per brevità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658368"/>
            <a:ext cx="117043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669AC"/>
                </a:solidFill>
              </a:rPr>
              <a:t>SSR  ·  Comune a Fornitore e Cliente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444965"/>
              </p:ext>
            </p:extLst>
          </p:nvPr>
        </p:nvGraphicFramePr>
        <p:xfrm>
          <a:off x="228600" y="987552"/>
          <a:ext cx="11731752" cy="571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0"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Client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Server side</a:t>
                      </a:r>
                    </a:p>
                  </a:txBody>
                  <a:tcPr>
                    <a:solidFill>
                      <a:srgbClr val="2669A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Evento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Evento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Azione</a:t>
                      </a:r>
                    </a:p>
                  </a:txBody>
                  <a:tcPr>
                    <a:solidFill>
                      <a:srgbClr val="41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index → login form → submit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credenziali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 username, password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Controllo credenziali; creazione sessione; CSRF token; redirect home per ruolo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Sessione assente / scaduta (qualsiasi pagina)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Redirect a 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Logout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Nessuna azione client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00000"/>
                          </a:solidFill>
                        </a:rPr>
                        <a:t>POST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Invalidazione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00000"/>
                          </a:solidFill>
                        </a:rPr>
                        <a:t>sessione</a:t>
                      </a:r>
                      <a:r>
                        <a:rPr sz="1300" b="0" dirty="0">
                          <a:solidFill>
                            <a:srgbClr val="000000"/>
                          </a:solidFill>
                        </a:rPr>
                        <a:t> HTTP; redirect a /login</a:t>
                      </a:r>
                    </a:p>
                  </a:txBody>
                  <a:tcPr>
                    <a:solidFill>
                      <a:srgbClr val="D6E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side: DAO &amp; model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180" y="1647568"/>
            <a:ext cx="50292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dirty="0"/>
              <a:t>Controllers</a:t>
            </a:r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LoginServlet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ApiUserController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ApiSkuController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ApiProdottoTreeController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ApiSyncController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ApiConfigurazioneController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 err="1"/>
              <a:t>ApiRicercaController</a:t>
            </a:r>
            <a:endParaRPr dirty="0"/>
          </a:p>
          <a:p>
            <a:pPr marL="800100" lvl="1" indent="-342900">
              <a:buFont typeface="Arial" panose="020B0604020202020204" pitchFamily="34" charset="0"/>
              <a:buChar char="•"/>
              <a:defRPr sz="2000"/>
            </a:pPr>
            <a:r>
              <a:rPr dirty="0"/>
              <a:t>ApiProdottoController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12" y="1647568"/>
            <a:ext cx="54864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  <a:defRPr sz="2200"/>
            </a:pPr>
            <a:r>
              <a:rPr dirty="0"/>
              <a:t>Model objects (Beans)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Utente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SKU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Prodotto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Configurazione</a:t>
            </a:r>
            <a:endParaRPr dirty="0"/>
          </a:p>
          <a:p>
            <a:pPr marL="342900" indent="-342900">
              <a:buFont typeface="Wingdings" panose="05000000000000000000" pitchFamily="2" charset="2"/>
              <a:buChar char="§"/>
              <a:defRPr sz="2200"/>
            </a:pPr>
            <a:r>
              <a:rPr dirty="0"/>
              <a:t>Data Access Objects (Classes)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UtenteDAO</a:t>
            </a:r>
            <a:endParaRPr dirty="0"/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checkCredentials</a:t>
            </a:r>
            <a:r>
              <a:rPr dirty="0"/>
              <a:t>(username, </a:t>
            </a:r>
            <a:r>
              <a:rPr dirty="0" err="1"/>
              <a:t>pwd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SKUDAO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inserisciSku</a:t>
            </a:r>
            <a:r>
              <a:rPr dirty="0"/>
              <a:t>(...)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getPrezzoReale</a:t>
            </a:r>
            <a:r>
              <a:rPr dirty="0"/>
              <a:t>(id)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eliminaDefinitivamente</a:t>
            </a:r>
            <a:r>
              <a:rPr dirty="0"/>
              <a:t>(...)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ProdottoDAO</a:t>
            </a:r>
            <a:endParaRPr dirty="0"/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inserisciProdottoComposto</a:t>
            </a:r>
            <a:r>
              <a:rPr dirty="0"/>
              <a:t>(...)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getAlberoProdottoByCodice</a:t>
            </a:r>
            <a:r>
              <a:rPr dirty="0"/>
              <a:t>(...)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800"/>
            </a:pPr>
            <a:r>
              <a:rPr dirty="0" err="1"/>
              <a:t>ConfigurazioneDAO</a:t>
            </a:r>
            <a:endParaRPr dirty="0"/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inserisciTestata</a:t>
            </a:r>
            <a:r>
              <a:rPr dirty="0"/>
              <a:t>(...)</a:t>
            </a:r>
          </a:p>
          <a:p>
            <a:pPr marL="1200150" lvl="2" indent="-285750">
              <a:buFont typeface="Courier New" panose="02070309020205020404" pitchFamily="49" charset="0"/>
              <a:buChar char="o"/>
              <a:defRPr sz="1400"/>
            </a:pPr>
            <a:r>
              <a:rPr dirty="0" err="1"/>
              <a:t>inserisciDettagliBatch</a:t>
            </a:r>
            <a:r>
              <a:rPr dirty="0"/>
              <a:t>(...)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7063" y="274638"/>
            <a:ext cx="11154697" cy="1143000"/>
          </a:xfrm>
        </p:spPr>
        <p:txBody>
          <a:bodyPr/>
          <a:lstStyle/>
          <a:p>
            <a:r>
              <a:rPr dirty="0"/>
              <a:t>Client side: view &amp; view component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7063" y="1696730"/>
            <a:ext cx="5486400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A </a:t>
            </a:r>
            <a:r>
              <a:rPr dirty="0" err="1"/>
              <a:t>differenza</a:t>
            </a:r>
            <a:r>
              <a:rPr dirty="0"/>
              <a:t> della </a:t>
            </a:r>
            <a:r>
              <a:rPr dirty="0" err="1"/>
              <a:t>progettazione</a:t>
            </a:r>
            <a:r>
              <a:rPr dirty="0"/>
              <a:t> con HTML puro, le </a:t>
            </a:r>
            <a:r>
              <a:rPr dirty="0" err="1"/>
              <a:t>viste</a:t>
            </a:r>
            <a:r>
              <a:rPr dirty="0"/>
              <a:t> </a:t>
            </a:r>
            <a:r>
              <a:rPr dirty="0" err="1"/>
              <a:t>vengono</a:t>
            </a:r>
            <a:r>
              <a:rPr dirty="0"/>
              <a:t> </a:t>
            </a:r>
            <a:r>
              <a:rPr dirty="0" err="1"/>
              <a:t>calcolate</a:t>
            </a:r>
            <a:r>
              <a:rPr dirty="0"/>
              <a:t> </a:t>
            </a:r>
            <a:r>
              <a:rPr dirty="0" err="1"/>
              <a:t>sul</a:t>
            </a:r>
            <a:r>
              <a:rPr dirty="0"/>
              <a:t> lato client</a:t>
            </a:r>
            <a:endParaRPr lang="it-IT" dirty="0"/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Un </a:t>
            </a:r>
            <a:r>
              <a:rPr dirty="0" err="1"/>
              <a:t>componente</a:t>
            </a:r>
            <a:r>
              <a:rPr dirty="0"/>
              <a:t> client-side della vista</a:t>
            </a:r>
            <a:r>
              <a:rPr lang="it-IT" dirty="0"/>
              <a:t>:</a:t>
            </a:r>
          </a:p>
          <a:p>
            <a:pPr>
              <a:defRPr sz="2200"/>
            </a:pPr>
            <a:r>
              <a:rPr lang="it-IT" dirty="0"/>
              <a:t>	- </a:t>
            </a:r>
            <a:r>
              <a:rPr dirty="0" err="1"/>
              <a:t>mantiene</a:t>
            </a:r>
            <a:r>
              <a:rPr dirty="0"/>
              <a:t> </a:t>
            </a:r>
            <a:r>
              <a:rPr dirty="0" err="1"/>
              <a:t>eventuali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del view model</a:t>
            </a:r>
            <a:endParaRPr lang="it-IT" dirty="0"/>
          </a:p>
          <a:p>
            <a:pPr>
              <a:defRPr sz="2200"/>
            </a:pPr>
            <a:r>
              <a:rPr lang="it-IT" dirty="0"/>
              <a:t>	- </a:t>
            </a:r>
            <a:r>
              <a:rPr dirty="0" err="1"/>
              <a:t>espone</a:t>
            </a:r>
            <a:r>
              <a:rPr dirty="0"/>
              <a:t> le </a:t>
            </a:r>
            <a:r>
              <a:rPr dirty="0" err="1"/>
              <a:t>funzioni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gestiscono</a:t>
            </a:r>
            <a:r>
              <a:rPr dirty="0"/>
              <a:t> </a:t>
            </a:r>
            <a:r>
              <a:rPr dirty="0" err="1"/>
              <a:t>gli</a:t>
            </a:r>
            <a:r>
              <a:rPr dirty="0"/>
              <a:t> </a:t>
            </a:r>
            <a:r>
              <a:rPr lang="it-IT" dirty="0"/>
              <a:t>			</a:t>
            </a:r>
            <a:r>
              <a:rPr dirty="0" err="1"/>
              <a:t>eventi</a:t>
            </a:r>
            <a:r>
              <a:rPr dirty="0"/>
              <a:t> </a:t>
            </a:r>
            <a:r>
              <a:rPr dirty="0" err="1"/>
              <a:t>associati</a:t>
            </a:r>
            <a:r>
              <a:rPr dirty="0"/>
              <a:t> al </a:t>
            </a:r>
            <a:r>
              <a:rPr dirty="0" err="1"/>
              <a:t>componente</a:t>
            </a:r>
            <a:r>
              <a:rPr dirty="0"/>
              <a:t> e la </a:t>
            </a:r>
            <a:r>
              <a:rPr lang="it-IT" dirty="0"/>
              <a:t>			</a:t>
            </a:r>
            <a:r>
              <a:rPr dirty="0" err="1"/>
              <a:t>funzione</a:t>
            </a:r>
            <a:r>
              <a:rPr dirty="0"/>
              <a:t> di </a:t>
            </a:r>
            <a:r>
              <a:rPr dirty="0" err="1"/>
              <a:t>utilità</a:t>
            </a:r>
            <a:r>
              <a:rPr dirty="0"/>
              <a:t> per </a:t>
            </a:r>
            <a:r>
              <a:rPr dirty="0" err="1"/>
              <a:t>associare</a:t>
            </a:r>
            <a:r>
              <a:rPr dirty="0"/>
              <a:t> </a:t>
            </a:r>
            <a:r>
              <a:rPr dirty="0" err="1"/>
              <a:t>gli</a:t>
            </a:r>
            <a:r>
              <a:rPr dirty="0"/>
              <a:t> </a:t>
            </a:r>
            <a:r>
              <a:rPr lang="it-IT" dirty="0"/>
              <a:t>			</a:t>
            </a:r>
            <a:r>
              <a:rPr dirty="0" err="1"/>
              <a:t>eventi</a:t>
            </a:r>
            <a:r>
              <a:rPr dirty="0"/>
              <a:t> ai </a:t>
            </a:r>
            <a:r>
              <a:rPr dirty="0" err="1"/>
              <a:t>rispettivi</a:t>
            </a:r>
            <a:r>
              <a:rPr dirty="0"/>
              <a:t> </a:t>
            </a:r>
            <a:r>
              <a:rPr dirty="0" err="1"/>
              <a:t>gestori</a:t>
            </a:r>
            <a:endParaRPr lang="it-IT" dirty="0"/>
          </a:p>
          <a:p>
            <a:pPr>
              <a:defRPr sz="2200"/>
            </a:pPr>
            <a:r>
              <a:rPr lang="it-IT" dirty="0"/>
              <a:t>	- </a:t>
            </a:r>
            <a:r>
              <a:rPr dirty="0" err="1"/>
              <a:t>espone</a:t>
            </a:r>
            <a:r>
              <a:rPr dirty="0"/>
              <a:t> le </a:t>
            </a:r>
            <a:r>
              <a:rPr dirty="0" err="1"/>
              <a:t>funzioni</a:t>
            </a:r>
            <a:r>
              <a:rPr dirty="0"/>
              <a:t> </a:t>
            </a:r>
            <a:r>
              <a:rPr dirty="0" err="1"/>
              <a:t>che</a:t>
            </a:r>
            <a:r>
              <a:rPr dirty="0"/>
              <a:t> </a:t>
            </a:r>
            <a:r>
              <a:rPr dirty="0" err="1"/>
              <a:t>invocano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servizi</a:t>
            </a:r>
            <a:r>
              <a:rPr dirty="0"/>
              <a:t> </a:t>
            </a:r>
            <a:r>
              <a:rPr lang="it-IT" dirty="0"/>
              <a:t>		</a:t>
            </a:r>
            <a:r>
              <a:rPr dirty="0"/>
              <a:t>del server in maniera </a:t>
            </a:r>
            <a:r>
              <a:rPr dirty="0" err="1"/>
              <a:t>asincrona</a:t>
            </a:r>
            <a:r>
              <a:rPr dirty="0"/>
              <a:t> ed </a:t>
            </a:r>
            <a:r>
              <a:rPr lang="it-IT" dirty="0"/>
              <a:t>			</a:t>
            </a:r>
            <a:r>
              <a:rPr dirty="0" err="1"/>
              <a:t>eseguono</a:t>
            </a:r>
            <a:r>
              <a:rPr dirty="0"/>
              <a:t> il rendering </a:t>
            </a:r>
            <a:r>
              <a:rPr dirty="0" err="1"/>
              <a:t>dei</a:t>
            </a:r>
            <a:r>
              <a:rPr dirty="0"/>
              <a:t> </a:t>
            </a:r>
            <a:r>
              <a:rPr dirty="0" err="1"/>
              <a:t>dati</a:t>
            </a:r>
            <a:r>
              <a:rPr dirty="0"/>
              <a:t> </a:t>
            </a:r>
            <a:r>
              <a:rPr lang="it-IT" dirty="0"/>
              <a:t>				</a:t>
            </a:r>
            <a:r>
              <a:rPr dirty="0" err="1"/>
              <a:t>provenienti</a:t>
            </a:r>
            <a:r>
              <a:rPr dirty="0"/>
              <a:t> dal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1379" y="1696730"/>
            <a:ext cx="54864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  <a:defRPr sz="2000"/>
            </a:pPr>
            <a:r>
              <a:rPr b="1" dirty="0"/>
              <a:t>Index</a:t>
            </a:r>
          </a:p>
          <a:p>
            <a:pPr lvl="1">
              <a:defRPr sz="1600"/>
            </a:pPr>
            <a:r>
              <a:rPr dirty="0"/>
              <a:t>Login form</a:t>
            </a:r>
          </a:p>
          <a:p>
            <a:pPr lvl="2">
              <a:defRPr sz="1400"/>
            </a:pPr>
            <a:r>
              <a:rPr sz="1600" dirty="0" err="1"/>
              <a:t>Gestione</a:t>
            </a:r>
            <a:r>
              <a:rPr sz="1600" dirty="0"/>
              <a:t> del submit e degli </a:t>
            </a:r>
            <a:r>
              <a:rPr sz="1600" dirty="0" err="1"/>
              <a:t>errori</a:t>
            </a:r>
            <a:endParaRPr dirty="0"/>
          </a:p>
          <a:p>
            <a:pPr marL="342900" indent="-342900">
              <a:buFont typeface="Wingdings" panose="05000000000000000000" pitchFamily="2" charset="2"/>
              <a:buChar char="§"/>
              <a:defRPr sz="2000"/>
            </a:pPr>
            <a:r>
              <a:rPr b="1" dirty="0" err="1"/>
              <a:t>AppFornitore</a:t>
            </a:r>
            <a:endParaRPr b="1"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init</a:t>
            </a:r>
            <a:r>
              <a:rPr sz="1600" dirty="0"/>
              <a:t>: carica </a:t>
            </a:r>
            <a:r>
              <a:rPr sz="1600" dirty="0" err="1"/>
              <a:t>dati</a:t>
            </a:r>
            <a:r>
              <a:rPr sz="1600" dirty="0"/>
              <a:t> </a:t>
            </a:r>
            <a:r>
              <a:rPr sz="1600" dirty="0" err="1"/>
              <a:t>iniziali</a:t>
            </a:r>
            <a:r>
              <a:rPr sz="1600" dirty="0"/>
              <a:t> dal server (</a:t>
            </a:r>
            <a:r>
              <a:rPr sz="1600" dirty="0" err="1"/>
              <a:t>orfani</a:t>
            </a:r>
            <a:r>
              <a:rPr sz="1600" dirty="0"/>
              <a:t>, </a:t>
            </a:r>
            <a:r>
              <a:rPr sz="1600" dirty="0" err="1"/>
              <a:t>catalogo</a:t>
            </a:r>
            <a:r>
              <a:rPr sz="16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handleSalvaTree</a:t>
            </a:r>
            <a:r>
              <a:rPr sz="1600" dirty="0"/>
              <a:t>: </a:t>
            </a:r>
            <a:r>
              <a:rPr sz="1600" dirty="0" err="1"/>
              <a:t>invia</a:t>
            </a:r>
            <a:r>
              <a:rPr sz="1600" dirty="0"/>
              <a:t> le </a:t>
            </a:r>
            <a:r>
              <a:rPr sz="1600" dirty="0" err="1"/>
              <a:t>azioni</a:t>
            </a:r>
            <a:r>
              <a:rPr sz="1600" dirty="0"/>
              <a:t> </a:t>
            </a:r>
            <a:r>
              <a:rPr sz="1600" dirty="0" err="1"/>
              <a:t>dell'editor</a:t>
            </a:r>
            <a:r>
              <a:rPr sz="1600" dirty="0"/>
              <a:t> </a:t>
            </a:r>
            <a:r>
              <a:rPr sz="1600" dirty="0" err="1"/>
              <a:t>albero</a:t>
            </a:r>
            <a:r>
              <a:rPr sz="1600" dirty="0"/>
              <a:t> al server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handleSubmitSku</a:t>
            </a:r>
            <a:r>
              <a:rPr sz="1600" dirty="0"/>
              <a:t>: </a:t>
            </a:r>
            <a:r>
              <a:rPr sz="1600" dirty="0" err="1"/>
              <a:t>invia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 </a:t>
            </a:r>
            <a:r>
              <a:rPr sz="1600" dirty="0" err="1"/>
              <a:t>dati</a:t>
            </a:r>
            <a:r>
              <a:rPr sz="1600" dirty="0"/>
              <a:t> del nuovo </a:t>
            </a:r>
            <a:r>
              <a:rPr sz="1600" dirty="0" err="1"/>
              <a:t>componente</a:t>
            </a:r>
            <a:r>
              <a:rPr sz="1600" dirty="0"/>
              <a:t> SKU</a:t>
            </a:r>
          </a:p>
          <a:p>
            <a:pPr marL="342900" indent="-342900">
              <a:buFont typeface="Wingdings" panose="05000000000000000000" pitchFamily="2" charset="2"/>
              <a:buChar char="§"/>
              <a:defRPr sz="2000"/>
            </a:pPr>
            <a:r>
              <a:rPr b="1" dirty="0" err="1"/>
              <a:t>AppCliente</a:t>
            </a:r>
            <a:endParaRPr b="1"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caricaCatalogo</a:t>
            </a:r>
            <a:r>
              <a:rPr sz="1600" dirty="0"/>
              <a:t>: </a:t>
            </a:r>
            <a:r>
              <a:rPr sz="1600" dirty="0" err="1"/>
              <a:t>richiede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 </a:t>
            </a:r>
            <a:r>
              <a:rPr sz="1600" dirty="0" err="1"/>
              <a:t>prodotti</a:t>
            </a:r>
            <a:r>
              <a:rPr sz="1600" dirty="0"/>
              <a:t> al server e </a:t>
            </a:r>
            <a:r>
              <a:rPr sz="1600" dirty="0" err="1"/>
              <a:t>aggiorna</a:t>
            </a:r>
            <a:r>
              <a:rPr sz="1600" dirty="0"/>
              <a:t> la vista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apriConfigurazione</a:t>
            </a:r>
            <a:r>
              <a:rPr sz="1600" dirty="0"/>
              <a:t>: </a:t>
            </a:r>
            <a:r>
              <a:rPr sz="1600" dirty="0" err="1"/>
              <a:t>renderizza</a:t>
            </a:r>
            <a:r>
              <a:rPr sz="1600" dirty="0"/>
              <a:t> </a:t>
            </a:r>
            <a:r>
              <a:rPr sz="1600" dirty="0" err="1"/>
              <a:t>l'albero</a:t>
            </a:r>
            <a:r>
              <a:rPr sz="1600" dirty="0"/>
              <a:t> per la </a:t>
            </a:r>
            <a:r>
              <a:rPr sz="1600" dirty="0" err="1"/>
              <a:t>scelta</a:t>
            </a:r>
            <a:r>
              <a:rPr sz="1600" dirty="0"/>
              <a:t> SKU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handleSalvaConfigurazione</a:t>
            </a:r>
            <a:r>
              <a:rPr sz="1600" dirty="0"/>
              <a:t>: </a:t>
            </a:r>
            <a:r>
              <a:rPr sz="1600" dirty="0" err="1"/>
              <a:t>invia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 </a:t>
            </a:r>
            <a:r>
              <a:rPr sz="1600" dirty="0" err="1"/>
              <a:t>dati</a:t>
            </a:r>
            <a:r>
              <a:rPr sz="1600" dirty="0"/>
              <a:t> della </a:t>
            </a:r>
            <a:r>
              <a:rPr sz="1600" dirty="0" err="1"/>
              <a:t>configurazione</a:t>
            </a:r>
            <a:r>
              <a:rPr sz="1600" dirty="0"/>
              <a:t> al server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274638"/>
            <a:ext cx="8229600" cy="1143000"/>
          </a:xfrm>
        </p:spPr>
        <p:txBody>
          <a:bodyPr/>
          <a:lstStyle/>
          <a:p>
            <a:r>
              <a:rPr dirty="0"/>
              <a:t>Server side: Controllers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0892" y="1417638"/>
            <a:ext cx="5303520" cy="3193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SPA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600"/>
            </a:pPr>
            <a:r>
              <a:rPr dirty="0"/>
              <a:t>API Controllers (SPA)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ApiConfigurazioneController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/>
              <a:t>ApiProdottoController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ApiProdottoTreeController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ApiRicercaController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ApiSkuController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ApiSyncController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ApiUserController</a:t>
            </a:r>
            <a:endParaRPr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7237412" y="1224116"/>
            <a:ext cx="5943600" cy="5040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SSR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600"/>
            </a:pPr>
            <a:r>
              <a:rPr dirty="0"/>
              <a:t>Servlets (SSR)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AzioneCatalogoServlet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CercaCatalogoServlet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ConfiguraServlet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ConfigurazioneActionServlet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DettaglioConfigurazioneServlet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HomeClienteServlet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HomeFornitoreServlet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LoginServlet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LogoutServlet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MieConfigurazioniServlet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RisultatoFornitoreServlet</a:t>
            </a:r>
            <a:endParaRPr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  <a:defRPr sz="1400"/>
            </a:pPr>
            <a:r>
              <a:rPr sz="1600" dirty="0" err="1"/>
              <a:t>SalvaConfigurazioneServlet</a:t>
            </a:r>
            <a:endParaRPr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257432"/>
            <a:ext cx="8229600" cy="1143000"/>
          </a:xfrm>
        </p:spPr>
        <p:txBody>
          <a:bodyPr/>
          <a:lstStyle/>
          <a:p>
            <a:r>
              <a:rPr dirty="0"/>
              <a:t>Server side: DAO &amp; Model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94620"/>
            <a:ext cx="53035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Model Objects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600"/>
            </a:pPr>
            <a:r>
              <a:rPr dirty="0"/>
              <a:t>Beans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Configurazione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ElementoCatalogo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Prodotto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ProdottoComposto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ProdottoSemplice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SKU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Utente</a:t>
            </a:r>
            <a:endParaRPr dirty="0"/>
          </a:p>
          <a:p>
            <a:pPr marL="285750" indent="-285750">
              <a:buFont typeface="Wingdings" panose="05000000000000000000" pitchFamily="2" charset="2"/>
              <a:buChar char="§"/>
              <a:defRPr sz="1600"/>
            </a:pPr>
            <a:r>
              <a:rPr dirty="0"/>
              <a:t>DTOs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DettaglioDTO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UtenteSessionDTO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VoceConfigurazioneDTO</a:t>
            </a:r>
            <a:endParaRPr dirty="0"/>
          </a:p>
          <a:p>
            <a:pPr marL="285750" indent="-285750">
              <a:buFont typeface="Wingdings" panose="05000000000000000000" pitchFamily="2" charset="2"/>
              <a:buChar char="§"/>
              <a:defRPr sz="1600"/>
            </a:pPr>
            <a:r>
              <a:rPr dirty="0" err="1"/>
              <a:t>UtenteDAO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checkCredentials</a:t>
            </a:r>
            <a:r>
              <a:rPr dirty="0"/>
              <a:t>(username, password)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600"/>
            </a:pPr>
            <a:r>
              <a:rPr dirty="0" err="1"/>
              <a:t>ConfigurazioneDAO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inserisciTestata</a:t>
            </a:r>
            <a:r>
              <a:rPr dirty="0"/>
              <a:t>(conf)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inserisciDettagliBatch</a:t>
            </a:r>
            <a:r>
              <a:rPr dirty="0"/>
              <a:t>(id, </a:t>
            </a:r>
            <a:r>
              <a:rPr dirty="0" err="1"/>
              <a:t>dettagli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eliminaConfigurazione</a:t>
            </a:r>
            <a:r>
              <a:rPr dirty="0"/>
              <a:t>(id, user)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getConfigurazioneById</a:t>
            </a:r>
            <a:r>
              <a:rPr dirty="0"/>
              <a:t>(id, user)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getConfigurazioniByUtente</a:t>
            </a:r>
            <a:r>
              <a:rPr dirty="0"/>
              <a:t>(user)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updateTestata</a:t>
            </a:r>
            <a:r>
              <a:rPr dirty="0"/>
              <a:t>(conf)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eliminaConfigurazioniPerComponente</a:t>
            </a:r>
            <a:r>
              <a:rPr dirty="0"/>
              <a:t>(id, </a:t>
            </a:r>
            <a:r>
              <a:rPr dirty="0" err="1"/>
              <a:t>tipo</a:t>
            </a:r>
            <a:r>
              <a:rPr dirty="0"/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194620"/>
            <a:ext cx="594360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Data Access Objects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600"/>
            </a:pPr>
            <a:r>
              <a:rPr dirty="0"/>
              <a:t>SKUDAO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findAll</a:t>
            </a:r>
            <a:r>
              <a:rPr dirty="0"/>
              <a:t>(), </a:t>
            </a:r>
            <a:r>
              <a:rPr dirty="0" err="1"/>
              <a:t>findById</a:t>
            </a:r>
            <a:r>
              <a:rPr dirty="0"/>
              <a:t>(id)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findByCodice</a:t>
            </a:r>
            <a:r>
              <a:rPr dirty="0"/>
              <a:t>(</a:t>
            </a:r>
            <a:r>
              <a:rPr dirty="0" err="1"/>
              <a:t>codice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insert(</a:t>
            </a:r>
            <a:r>
              <a:rPr dirty="0" err="1"/>
              <a:t>sku</a:t>
            </a:r>
            <a:r>
              <a:rPr dirty="0"/>
              <a:t>), update(</a:t>
            </a:r>
            <a:r>
              <a:rPr dirty="0" err="1"/>
              <a:t>sku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getPrezzoReale</a:t>
            </a:r>
            <a:r>
              <a:rPr dirty="0"/>
              <a:t>(id)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search(query)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eliminaDefinitivamente</a:t>
            </a:r>
            <a:r>
              <a:rPr dirty="0"/>
              <a:t>(id)</a:t>
            </a:r>
          </a:p>
          <a:p>
            <a:pPr marL="285750" indent="-285750">
              <a:buFont typeface="Wingdings" panose="05000000000000000000" pitchFamily="2" charset="2"/>
              <a:buChar char="§"/>
              <a:defRPr sz="1600"/>
            </a:pPr>
            <a:r>
              <a:rPr dirty="0" err="1"/>
              <a:t>ProdottoDAO</a:t>
            </a:r>
            <a:endParaRPr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getProdottiRadice</a:t>
            </a:r>
            <a:r>
              <a:rPr dirty="0"/>
              <a:t>()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findAll</a:t>
            </a:r>
            <a:r>
              <a:rPr dirty="0"/>
              <a:t>(), </a:t>
            </a:r>
            <a:r>
              <a:rPr dirty="0" err="1"/>
              <a:t>findById</a:t>
            </a:r>
            <a:r>
              <a:rPr dirty="0"/>
              <a:t>(id), </a:t>
            </a:r>
            <a:r>
              <a:rPr dirty="0" err="1"/>
              <a:t>findByCodice</a:t>
            </a:r>
            <a:r>
              <a:rPr dirty="0"/>
              <a:t>(cod)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getAlberoProdotto</a:t>
            </a:r>
            <a:r>
              <a:rPr dirty="0"/>
              <a:t>(id)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insertSemplice</a:t>
            </a:r>
            <a:r>
              <a:rPr dirty="0"/>
              <a:t>(...), </a:t>
            </a:r>
            <a:r>
              <a:rPr dirty="0" err="1"/>
              <a:t>insertComposto</a:t>
            </a:r>
            <a:r>
              <a:rPr dirty="0"/>
              <a:t>(...)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addSku</a:t>
            </a:r>
            <a:r>
              <a:rPr dirty="0"/>
              <a:t>(</a:t>
            </a:r>
            <a:r>
              <a:rPr dirty="0" err="1"/>
              <a:t>idProdotto</a:t>
            </a:r>
            <a:r>
              <a:rPr dirty="0"/>
              <a:t>, </a:t>
            </a:r>
            <a:r>
              <a:rPr dirty="0" err="1"/>
              <a:t>idSku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addFiglio</a:t>
            </a:r>
            <a:r>
              <a:rPr dirty="0"/>
              <a:t>(</a:t>
            </a:r>
            <a:r>
              <a:rPr dirty="0" err="1"/>
              <a:t>idPadre</a:t>
            </a:r>
            <a:r>
              <a:rPr dirty="0"/>
              <a:t>, </a:t>
            </a:r>
            <a:r>
              <a:rPr dirty="0" err="1"/>
              <a:t>idFiglio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/>
              <a:t>search(query)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calcolaPrezziDaSku</a:t>
            </a:r>
            <a:r>
              <a:rPr dirty="0"/>
              <a:t>(id), </a:t>
            </a:r>
            <a:r>
              <a:rPr dirty="0" err="1"/>
              <a:t>ricalcolaPrezziComposto</a:t>
            </a:r>
            <a:r>
              <a:rPr dirty="0"/>
              <a:t>(id)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rimuoviAssociazioneSku</a:t>
            </a:r>
            <a:r>
              <a:rPr dirty="0"/>
              <a:t>(</a:t>
            </a:r>
            <a:r>
              <a:rPr dirty="0" err="1"/>
              <a:t>idProd</a:t>
            </a:r>
            <a:r>
              <a:rPr dirty="0"/>
              <a:t>, </a:t>
            </a:r>
            <a:r>
              <a:rPr dirty="0" err="1"/>
              <a:t>idSku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rimuoviFiglio</a:t>
            </a:r>
            <a:r>
              <a:rPr dirty="0"/>
              <a:t>(</a:t>
            </a:r>
            <a:r>
              <a:rPr dirty="0" err="1"/>
              <a:t>idFiglio</a:t>
            </a:r>
            <a:r>
              <a:rPr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dirty="0" err="1"/>
              <a:t>eliminaDefinitivamente</a:t>
            </a:r>
            <a:r>
              <a:rPr dirty="0"/>
              <a:t>(id)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199" y="1371600"/>
            <a:ext cx="530352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 err="1"/>
              <a:t>Introduzione</a:t>
            </a:r>
            <a:endParaRPr dirty="0"/>
          </a:p>
          <a:p>
            <a:pPr>
              <a:defRPr sz="1600"/>
            </a:pPr>
            <a:r>
              <a:rPr dirty="0"/>
              <a:t>A </a:t>
            </a:r>
            <a:r>
              <a:rPr dirty="0" err="1"/>
              <a:t>differenza</a:t>
            </a:r>
            <a:r>
              <a:rPr dirty="0"/>
              <a:t> della </a:t>
            </a:r>
            <a:r>
              <a:rPr dirty="0" err="1"/>
              <a:t>progettazione</a:t>
            </a:r>
            <a:r>
              <a:rPr dirty="0"/>
              <a:t> con HTML puro, le </a:t>
            </a:r>
            <a:r>
              <a:rPr dirty="0" err="1"/>
              <a:t>viste</a:t>
            </a:r>
            <a:r>
              <a:rPr dirty="0"/>
              <a:t> </a:t>
            </a:r>
            <a:r>
              <a:rPr dirty="0" err="1"/>
              <a:t>vengono</a:t>
            </a:r>
            <a:r>
              <a:rPr dirty="0"/>
              <a:t> </a:t>
            </a:r>
            <a:r>
              <a:rPr dirty="0" err="1"/>
              <a:t>calcolate</a:t>
            </a:r>
            <a:r>
              <a:rPr dirty="0"/>
              <a:t> </a:t>
            </a:r>
            <a:r>
              <a:rPr dirty="0" err="1"/>
              <a:t>sul</a:t>
            </a:r>
            <a:r>
              <a:rPr dirty="0"/>
              <a:t> lato client</a:t>
            </a:r>
            <a:r>
              <a:rPr lang="it-IT" dirty="0"/>
              <a:t>.</a:t>
            </a:r>
          </a:p>
          <a:p>
            <a:pPr>
              <a:defRPr sz="1600"/>
            </a:pPr>
            <a:endParaRPr lang="it-IT" dirty="0"/>
          </a:p>
          <a:p>
            <a:pPr>
              <a:defRPr sz="1600"/>
            </a:pPr>
            <a:r>
              <a:rPr dirty="0"/>
              <a:t>Un </a:t>
            </a:r>
            <a:r>
              <a:rPr dirty="0" err="1"/>
              <a:t>componente</a:t>
            </a:r>
            <a:r>
              <a:rPr dirty="0"/>
              <a:t> client-side della vista:</a:t>
            </a:r>
          </a:p>
          <a:p>
            <a:pPr marL="742950" lvl="1" indent="-285750">
              <a:buFont typeface="Courier New" panose="02070309020205020404" pitchFamily="49" charset="0"/>
              <a:buChar char="o"/>
              <a:defRPr sz="1400"/>
            </a:pPr>
            <a:r>
              <a:rPr sz="1600" dirty="0" err="1"/>
              <a:t>mantiene</a:t>
            </a:r>
            <a:r>
              <a:rPr sz="1600" dirty="0"/>
              <a:t> </a:t>
            </a:r>
            <a:r>
              <a:rPr sz="1600" dirty="0" err="1"/>
              <a:t>eventuali</a:t>
            </a:r>
            <a:r>
              <a:rPr sz="1600" dirty="0"/>
              <a:t> </a:t>
            </a:r>
            <a:r>
              <a:rPr sz="1600" dirty="0" err="1"/>
              <a:t>dati</a:t>
            </a:r>
            <a:r>
              <a:rPr sz="1600" dirty="0"/>
              <a:t> del view model</a:t>
            </a:r>
          </a:p>
          <a:p>
            <a:pPr marL="742950" lvl="1" indent="-285750">
              <a:buFont typeface="Courier New" panose="02070309020205020404" pitchFamily="49" charset="0"/>
              <a:buChar char="o"/>
              <a:defRPr sz="1400"/>
            </a:pPr>
            <a:r>
              <a:rPr sz="1600" dirty="0" err="1"/>
              <a:t>espone</a:t>
            </a:r>
            <a:r>
              <a:rPr sz="1600" dirty="0"/>
              <a:t> le </a:t>
            </a:r>
            <a:r>
              <a:rPr sz="1600" dirty="0" err="1"/>
              <a:t>funzioni</a:t>
            </a:r>
            <a:r>
              <a:rPr sz="1600" dirty="0"/>
              <a:t> </a:t>
            </a:r>
            <a:r>
              <a:rPr sz="1600" dirty="0" err="1"/>
              <a:t>che</a:t>
            </a:r>
            <a:r>
              <a:rPr sz="1600" dirty="0"/>
              <a:t> </a:t>
            </a:r>
            <a:r>
              <a:rPr sz="1600" dirty="0" err="1"/>
              <a:t>gestiscono</a:t>
            </a:r>
            <a:r>
              <a:rPr sz="1600" dirty="0"/>
              <a:t> </a:t>
            </a:r>
            <a:r>
              <a:rPr sz="1600" dirty="0" err="1"/>
              <a:t>gli</a:t>
            </a:r>
            <a:r>
              <a:rPr sz="1600" dirty="0"/>
              <a:t> </a:t>
            </a:r>
            <a:r>
              <a:rPr sz="1600" dirty="0" err="1"/>
              <a:t>eventi</a:t>
            </a:r>
            <a:r>
              <a:rPr sz="1600" dirty="0"/>
              <a:t> </a:t>
            </a:r>
            <a:r>
              <a:rPr sz="1600" dirty="0" err="1"/>
              <a:t>associati</a:t>
            </a:r>
            <a:r>
              <a:rPr sz="1600" dirty="0"/>
              <a:t> al </a:t>
            </a:r>
            <a:r>
              <a:rPr sz="1600" dirty="0" err="1"/>
              <a:t>componente</a:t>
            </a:r>
            <a:endParaRPr sz="1600" dirty="0"/>
          </a:p>
          <a:p>
            <a:pPr marL="742950" lvl="1" indent="-285750">
              <a:buFont typeface="Courier New" panose="02070309020205020404" pitchFamily="49" charset="0"/>
              <a:buChar char="o"/>
              <a:defRPr sz="1400"/>
            </a:pPr>
            <a:r>
              <a:rPr sz="1600" dirty="0" err="1"/>
              <a:t>espone</a:t>
            </a:r>
            <a:r>
              <a:rPr sz="1600" dirty="0"/>
              <a:t> le </a:t>
            </a:r>
            <a:r>
              <a:rPr sz="1600" dirty="0" err="1"/>
              <a:t>funzioni</a:t>
            </a:r>
            <a:r>
              <a:rPr sz="1600" dirty="0"/>
              <a:t> </a:t>
            </a:r>
            <a:r>
              <a:rPr sz="1600" dirty="0" err="1"/>
              <a:t>che</a:t>
            </a:r>
            <a:r>
              <a:rPr sz="1600" dirty="0"/>
              <a:t> </a:t>
            </a:r>
            <a:r>
              <a:rPr sz="1600" dirty="0" err="1"/>
              <a:t>invocano</a:t>
            </a:r>
            <a:r>
              <a:rPr sz="1600" dirty="0"/>
              <a:t> </a:t>
            </a:r>
            <a:r>
              <a:rPr sz="1600" dirty="0" err="1"/>
              <a:t>i</a:t>
            </a:r>
            <a:r>
              <a:rPr sz="1600" dirty="0"/>
              <a:t> </a:t>
            </a:r>
            <a:r>
              <a:rPr sz="1600" dirty="0" err="1"/>
              <a:t>servizi</a:t>
            </a:r>
            <a:r>
              <a:rPr sz="1600" dirty="0"/>
              <a:t> del server in maniera </a:t>
            </a:r>
            <a:r>
              <a:rPr sz="1600" dirty="0" err="1"/>
              <a:t>asincrona</a:t>
            </a:r>
            <a:endParaRPr sz="1600" dirty="0"/>
          </a:p>
          <a:p>
            <a:pPr marL="742950" lvl="1" indent="-285750">
              <a:buFont typeface="Courier New" panose="02070309020205020404" pitchFamily="49" charset="0"/>
              <a:buChar char="o"/>
              <a:defRPr sz="1400"/>
            </a:pPr>
            <a:r>
              <a:rPr sz="1600" dirty="0" err="1"/>
              <a:t>esegue</a:t>
            </a:r>
            <a:r>
              <a:rPr sz="1600" dirty="0"/>
              <a:t> il rendering </a:t>
            </a:r>
            <a:r>
              <a:rPr sz="1600" dirty="0" err="1"/>
              <a:t>dei</a:t>
            </a:r>
            <a:r>
              <a:rPr sz="1600" dirty="0"/>
              <a:t> </a:t>
            </a:r>
            <a:r>
              <a:rPr sz="1600" dirty="0" err="1"/>
              <a:t>dati</a:t>
            </a:r>
            <a:r>
              <a:rPr sz="1600" dirty="0"/>
              <a:t> </a:t>
            </a:r>
            <a:r>
              <a:rPr sz="1600" dirty="0" err="1"/>
              <a:t>provenienti</a:t>
            </a:r>
            <a:r>
              <a:rPr sz="1600" dirty="0"/>
              <a:t> dal server</a:t>
            </a:r>
          </a:p>
          <a:p>
            <a:pPr>
              <a:defRPr sz="1600"/>
            </a:pPr>
            <a:r>
              <a:rPr dirty="0"/>
              <a:t>Index / Login form</a:t>
            </a:r>
          </a:p>
          <a:p>
            <a:pPr marL="742950" lvl="1" indent="-285750">
              <a:buFont typeface="Courier New" panose="02070309020205020404" pitchFamily="49" charset="0"/>
              <a:buChar char="o"/>
              <a:defRPr sz="1400"/>
            </a:pPr>
            <a:r>
              <a:rPr dirty="0"/>
              <a:t>Submit form (login.js) con fetch e redirect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11" y="1371600"/>
            <a:ext cx="59436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 err="1"/>
              <a:t>Componente</a:t>
            </a:r>
            <a:r>
              <a:rPr dirty="0"/>
              <a:t> </a:t>
            </a:r>
            <a:r>
              <a:rPr dirty="0" err="1"/>
              <a:t>Cliente</a:t>
            </a:r>
            <a:endParaRPr dirty="0"/>
          </a:p>
          <a:p>
            <a:pPr>
              <a:defRPr sz="1600"/>
            </a:pPr>
            <a:r>
              <a:rPr dirty="0" err="1"/>
              <a:t>AppCliente</a:t>
            </a:r>
            <a:endParaRPr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 err="1"/>
              <a:t>Inizializzazione</a:t>
            </a:r>
            <a:r>
              <a:rPr sz="1600" dirty="0"/>
              <a:t> &amp; </a:t>
            </a:r>
            <a:r>
              <a:rPr sz="1600" dirty="0" err="1"/>
              <a:t>Navigazione</a:t>
            </a:r>
            <a:endParaRPr sz="1600"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init</a:t>
            </a:r>
            <a:r>
              <a:rPr sz="1600" dirty="0"/>
              <a:t>, </a:t>
            </a:r>
            <a:r>
              <a:rPr sz="1600" dirty="0" err="1"/>
              <a:t>bindGlobalEvents</a:t>
            </a:r>
            <a:r>
              <a:rPr sz="1600" dirty="0"/>
              <a:t>, </a:t>
            </a:r>
            <a:r>
              <a:rPr sz="1600" dirty="0" err="1"/>
              <a:t>switchSection</a:t>
            </a:r>
            <a:endParaRPr sz="16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/>
              <a:t>Caricamento &amp; Rendering </a:t>
            </a:r>
            <a:r>
              <a:rPr sz="1600" dirty="0" err="1"/>
              <a:t>Liste</a:t>
            </a:r>
            <a:endParaRPr sz="1600"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caricaCatalogo</a:t>
            </a:r>
            <a:r>
              <a:rPr sz="1600" dirty="0"/>
              <a:t>, </a:t>
            </a:r>
            <a:r>
              <a:rPr sz="1600" dirty="0" err="1"/>
              <a:t>renderPaginaCatalogo</a:t>
            </a:r>
            <a:endParaRPr sz="1600"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caricaConfigurazioni</a:t>
            </a:r>
            <a:endParaRPr sz="16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 err="1"/>
              <a:t>Gestione</a:t>
            </a:r>
            <a:r>
              <a:rPr sz="1600" dirty="0"/>
              <a:t> </a:t>
            </a:r>
            <a:r>
              <a:rPr sz="1600" dirty="0" err="1"/>
              <a:t>Configurazione</a:t>
            </a:r>
            <a:endParaRPr sz="1600"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apriConfigurazione</a:t>
            </a:r>
            <a:r>
              <a:rPr sz="1600" dirty="0"/>
              <a:t>, </a:t>
            </a:r>
            <a:r>
              <a:rPr sz="1600" dirty="0" err="1"/>
              <a:t>apriModifica</a:t>
            </a:r>
            <a:r>
              <a:rPr sz="1600" dirty="0"/>
              <a:t>, </a:t>
            </a:r>
            <a:r>
              <a:rPr sz="1600" dirty="0" err="1"/>
              <a:t>apriDettaglio</a:t>
            </a:r>
            <a:endParaRPr sz="1600"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buildNodoConfigura</a:t>
            </a:r>
            <a:r>
              <a:rPr sz="1600" dirty="0"/>
              <a:t>, </a:t>
            </a:r>
            <a:r>
              <a:rPr sz="1600" dirty="0" err="1"/>
              <a:t>buildNodoModifica</a:t>
            </a:r>
            <a:r>
              <a:rPr sz="1600" dirty="0"/>
              <a:t>, </a:t>
            </a:r>
            <a:r>
              <a:rPr sz="1600" dirty="0" err="1"/>
              <a:t>buildNodoDettaglio</a:t>
            </a:r>
            <a:endParaRPr sz="1600"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espandiNodo</a:t>
            </a:r>
            <a:r>
              <a:rPr sz="1600" dirty="0"/>
              <a:t>, </a:t>
            </a:r>
            <a:r>
              <a:rPr sz="1600" dirty="0" err="1"/>
              <a:t>raccogliScelte</a:t>
            </a:r>
            <a:endParaRPr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/>
              <a:t>Azioni Server (Async)</a:t>
            </a:r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handleSalvaConfigurazione</a:t>
            </a:r>
            <a:endParaRPr sz="1600"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cloneConfigurazione</a:t>
            </a:r>
            <a:endParaRPr sz="1600"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eliminaConfigurazione</a:t>
            </a:r>
            <a:endParaRPr sz="16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 err="1"/>
              <a:t>Utilità</a:t>
            </a:r>
            <a:endParaRPr dirty="0"/>
          </a:p>
          <a:p>
            <a:pPr marL="1085850" lvl="2" indent="-1714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mostraMessaggio</a:t>
            </a:r>
            <a:r>
              <a:rPr sz="1600" dirty="0"/>
              <a:t>, </a:t>
            </a:r>
            <a:r>
              <a:rPr sz="1600" dirty="0" err="1"/>
              <a:t>confermaAzione</a:t>
            </a:r>
            <a:endParaRPr sz="16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C4A5876-C132-1930-B28C-5FDEDF667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28600"/>
            <a:ext cx="11274425" cy="1143000"/>
          </a:xfrm>
        </p:spPr>
        <p:txBody>
          <a:bodyPr/>
          <a:lstStyle/>
          <a:p>
            <a:r>
              <a:rPr dirty="0"/>
              <a:t>Client side: view &amp; view component (1/2)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371600"/>
            <a:ext cx="530352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sz="2400" dirty="0" err="1"/>
              <a:t>AppFornitore</a:t>
            </a:r>
            <a:endParaRPr sz="24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 err="1"/>
              <a:t>Inizializzazione</a:t>
            </a:r>
            <a:r>
              <a:rPr sz="1600" dirty="0"/>
              <a:t> &amp; </a:t>
            </a:r>
            <a:r>
              <a:rPr sz="1600" dirty="0" err="1"/>
              <a:t>Navigazione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init</a:t>
            </a:r>
            <a:r>
              <a:rPr sz="1600" dirty="0"/>
              <a:t>, </a:t>
            </a:r>
            <a:r>
              <a:rPr sz="1600" dirty="0" err="1"/>
              <a:t>bindGlobalEvents</a:t>
            </a:r>
            <a:r>
              <a:rPr sz="1600" dirty="0"/>
              <a:t>, </a:t>
            </a:r>
            <a:r>
              <a:rPr sz="1600" dirty="0" err="1"/>
              <a:t>switchSection</a:t>
            </a:r>
            <a:endParaRPr sz="16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 err="1"/>
              <a:t>Creazione</a:t>
            </a:r>
            <a:r>
              <a:rPr sz="1600" dirty="0"/>
              <a:t> </a:t>
            </a:r>
            <a:r>
              <a:rPr sz="1600" dirty="0" err="1"/>
              <a:t>Componenti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handleSubmitSemplice</a:t>
            </a:r>
            <a:r>
              <a:rPr sz="1600" dirty="0"/>
              <a:t>, </a:t>
            </a:r>
            <a:r>
              <a:rPr sz="1600" dirty="0" err="1"/>
              <a:t>handleCreaComposto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handleSubmitSku</a:t>
            </a:r>
            <a:r>
              <a:rPr sz="1600" dirty="0"/>
              <a:t>, </a:t>
            </a:r>
            <a:r>
              <a:rPr sz="1600" dirty="0" err="1"/>
              <a:t>renderSkuCreata</a:t>
            </a:r>
            <a:endParaRPr sz="16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 err="1"/>
              <a:t>Ricerca</a:t>
            </a:r>
            <a:r>
              <a:rPr sz="1600" dirty="0"/>
              <a:t> &amp; </a:t>
            </a:r>
            <a:r>
              <a:rPr sz="1600" dirty="0" err="1"/>
              <a:t>Liste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handleSearch</a:t>
            </a:r>
            <a:r>
              <a:rPr sz="1600" dirty="0"/>
              <a:t>, </a:t>
            </a:r>
            <a:r>
              <a:rPr sz="1600" dirty="0" err="1"/>
              <a:t>handleExpandSearchResult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renderSkuCheckboxList</a:t>
            </a:r>
            <a:r>
              <a:rPr sz="1600" dirty="0"/>
              <a:t>, </a:t>
            </a:r>
            <a:r>
              <a:rPr sz="1600" dirty="0" err="1"/>
              <a:t>renderOrfaniCheckboxList</a:t>
            </a:r>
            <a:endParaRPr sz="16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 err="1"/>
              <a:t>Gestione</a:t>
            </a:r>
            <a:r>
              <a:rPr sz="1600" dirty="0"/>
              <a:t> </a:t>
            </a:r>
            <a:r>
              <a:rPr sz="1600" dirty="0" err="1"/>
              <a:t>Prezzi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ricalcolaRiepilogoPrezzi</a:t>
            </a:r>
            <a:r>
              <a:rPr sz="1600" dirty="0"/>
              <a:t>, </a:t>
            </a:r>
            <a:r>
              <a:rPr sz="1600" dirty="0" err="1"/>
              <a:t>handleRicalcolaPrezzo</a:t>
            </a:r>
            <a:endParaRPr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5943600" y="1371600"/>
            <a:ext cx="59436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 err="1"/>
              <a:t>AppFornitore</a:t>
            </a:r>
            <a:r>
              <a:rPr dirty="0"/>
              <a:t> (Cont.)</a:t>
            </a:r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/>
              <a:t>Tree Editor: Rendering &amp; </a:t>
            </a:r>
            <a:r>
              <a:rPr sz="1600" dirty="0" err="1"/>
              <a:t>Costruzione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renderTreeView</a:t>
            </a:r>
            <a:r>
              <a:rPr sz="1600" dirty="0"/>
              <a:t>, </a:t>
            </a:r>
            <a:r>
              <a:rPr sz="1600" dirty="0" err="1"/>
              <a:t>buildNodeUI</a:t>
            </a:r>
            <a:r>
              <a:rPr sz="1600" dirty="0"/>
              <a:t>, </a:t>
            </a:r>
            <a:r>
              <a:rPr sz="1600" dirty="0" err="1"/>
              <a:t>buildSkuUI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raccogliSkuDaAlbero</a:t>
            </a:r>
            <a:r>
              <a:rPr sz="1600" dirty="0"/>
              <a:t>, </a:t>
            </a:r>
            <a:r>
              <a:rPr sz="1600" dirty="0" err="1"/>
              <a:t>getNodeLevel</a:t>
            </a:r>
            <a:endParaRPr sz="16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/>
              <a:t>Tree Editor: Code di Azioni </a:t>
            </a:r>
            <a:r>
              <a:rPr sz="1600" dirty="0" err="1"/>
              <a:t>Locali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enqueueAction</a:t>
            </a:r>
            <a:r>
              <a:rPr sz="1600" dirty="0"/>
              <a:t> (</a:t>
            </a:r>
            <a:r>
              <a:rPr sz="1600" dirty="0" err="1"/>
              <a:t>aggiunge</a:t>
            </a:r>
            <a:r>
              <a:rPr sz="1600" dirty="0"/>
              <a:t> </a:t>
            </a:r>
            <a:r>
              <a:rPr sz="1600" dirty="0" err="1"/>
              <a:t>l'azione</a:t>
            </a:r>
            <a:r>
              <a:rPr sz="1600" dirty="0"/>
              <a:t> in RAM)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handleTreeAddChild</a:t>
            </a:r>
            <a:r>
              <a:rPr sz="1600" dirty="0"/>
              <a:t>, </a:t>
            </a:r>
            <a:r>
              <a:rPr sz="1600" dirty="0" err="1"/>
              <a:t>submitTreeAddChild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handleTreeAddSku</a:t>
            </a:r>
            <a:r>
              <a:rPr sz="1600" dirty="0"/>
              <a:t>, </a:t>
            </a:r>
            <a:r>
              <a:rPr sz="1600" dirty="0" err="1"/>
              <a:t>submitTreeAddSku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handleTreeUnlink</a:t>
            </a:r>
            <a:r>
              <a:rPr sz="1600" dirty="0"/>
              <a:t>, </a:t>
            </a:r>
            <a:r>
              <a:rPr sz="1600" dirty="0" err="1"/>
              <a:t>handleTreeUnlinkSku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handleTreeDelete</a:t>
            </a:r>
            <a:r>
              <a:rPr sz="1600" dirty="0"/>
              <a:t>, </a:t>
            </a:r>
            <a:r>
              <a:rPr sz="1600" dirty="0" err="1"/>
              <a:t>handleTreeDeleteSku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handleTreeInlineEdit</a:t>
            </a:r>
            <a:r>
              <a:rPr sz="1600" dirty="0"/>
              <a:t>, </a:t>
            </a:r>
            <a:r>
              <a:rPr sz="1600" dirty="0" err="1"/>
              <a:t>handleSkuInlineEdit</a:t>
            </a:r>
            <a:endParaRPr sz="1600" dirty="0"/>
          </a:p>
          <a:p>
            <a:pPr marL="742950" lvl="1" indent="-285750">
              <a:buFont typeface="Arial" panose="020B0604020202020204" pitchFamily="34" charset="0"/>
              <a:buChar char="•"/>
              <a:defRPr sz="1400"/>
            </a:pPr>
            <a:r>
              <a:rPr sz="1600" dirty="0"/>
              <a:t>Azioni Server (Async)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handleSalvaTree</a:t>
            </a:r>
            <a:r>
              <a:rPr sz="1600" dirty="0"/>
              <a:t> (</a:t>
            </a:r>
            <a:r>
              <a:rPr sz="1600" dirty="0" err="1"/>
              <a:t>invia</a:t>
            </a:r>
            <a:r>
              <a:rPr sz="1600" dirty="0"/>
              <a:t> il batch di </a:t>
            </a:r>
            <a:r>
              <a:rPr sz="1600" dirty="0" err="1"/>
              <a:t>azioni</a:t>
            </a:r>
            <a:r>
              <a:rPr sz="1600" dirty="0"/>
              <a:t> </a:t>
            </a:r>
            <a:r>
              <a:rPr sz="1600" dirty="0" err="1"/>
              <a:t>pendenti</a:t>
            </a:r>
            <a:r>
              <a:rPr sz="1600" dirty="0"/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handleEliminaSku</a:t>
            </a:r>
            <a:r>
              <a:rPr sz="1600" dirty="0"/>
              <a:t>, </a:t>
            </a:r>
            <a:r>
              <a:rPr sz="1600" dirty="0" err="1"/>
              <a:t>deleteProdottoFromDB</a:t>
            </a:r>
            <a:endParaRPr sz="1600" dirty="0"/>
          </a:p>
          <a:p>
            <a:pPr marL="742950" lvl="1" indent="-285750">
              <a:buFont typeface="Wingdings" panose="05000000000000000000" pitchFamily="2" charset="2"/>
              <a:buChar char="§"/>
              <a:defRPr sz="1400"/>
            </a:pPr>
            <a:r>
              <a:rPr sz="1600" dirty="0" err="1"/>
              <a:t>Utilità</a:t>
            </a:r>
            <a:endParaRPr sz="1600" dirty="0"/>
          </a:p>
          <a:p>
            <a:pPr marL="1200150" lvl="2" indent="-285750">
              <a:buFont typeface="Arial" panose="020B0604020202020204" pitchFamily="34" charset="0"/>
              <a:buChar char="•"/>
              <a:defRPr sz="1200"/>
            </a:pPr>
            <a:r>
              <a:rPr sz="1600" dirty="0" err="1"/>
              <a:t>mostraMessaggio</a:t>
            </a:r>
            <a:r>
              <a:rPr sz="1600" dirty="0"/>
              <a:t>, </a:t>
            </a:r>
            <a:r>
              <a:rPr sz="1600" dirty="0" err="1"/>
              <a:t>confermaAzione</a:t>
            </a:r>
            <a:endParaRPr sz="160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D7F24C7-E76C-B345-F4A6-5C0B5C9BE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28600"/>
            <a:ext cx="11274425" cy="1143000"/>
          </a:xfrm>
        </p:spPr>
        <p:txBody>
          <a:bodyPr/>
          <a:lstStyle/>
          <a:p>
            <a:r>
              <a:rPr dirty="0"/>
              <a:t>Client side: view &amp; view component (</a:t>
            </a:r>
            <a:r>
              <a:rPr lang="it-IT" dirty="0"/>
              <a:t>2</a:t>
            </a:r>
            <a:r>
              <a:rPr dirty="0"/>
              <a:t>/2)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3174</Words>
  <Application>Microsoft Office PowerPoint</Application>
  <PresentationFormat>Personalizzato</PresentationFormat>
  <Paragraphs>669</Paragraphs>
  <Slides>21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6" baseType="lpstr">
      <vt:lpstr>Arial</vt:lpstr>
      <vt:lpstr>Calibri</vt:lpstr>
      <vt:lpstr>Courier New</vt:lpstr>
      <vt:lpstr>Wingdings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Server side: DAO &amp; model objects</vt:lpstr>
      <vt:lpstr>Client side: view &amp; view component</vt:lpstr>
      <vt:lpstr>Server side: Controllers</vt:lpstr>
      <vt:lpstr>Server side: DAO &amp; Model objects</vt:lpstr>
      <vt:lpstr>Client side: view &amp; view component (1/2)</vt:lpstr>
      <vt:lpstr>Client side: view &amp; view component (2/2)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Antonio Falco</cp:lastModifiedBy>
  <cp:revision>8</cp:revision>
  <dcterms:created xsi:type="dcterms:W3CDTF">2013-01-27T09:14:16Z</dcterms:created>
  <dcterms:modified xsi:type="dcterms:W3CDTF">2026-06-15T20:02:07Z</dcterms:modified>
  <cp:category/>
</cp:coreProperties>
</file>